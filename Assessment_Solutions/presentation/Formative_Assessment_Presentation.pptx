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presentation covers three things: what linear regression is, the different types of linear regression with examples from different professions, and how linear regression differs from logistic regression. All R output shown was produced by running the code on the data sets named on each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answers two questions. First, how strongly is y related to x, and in which direction? Second, what value of y should we expect for a new x? The word linear means the relationship is modelled as a straight line. b0 is where the line crosses the y axis and b1 is how steep it is. The error term epsilon is everything the line cannot explain. Regression is used for two purposes: explanation (which factors matter and by how much) and prediction (what will y be for a new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is chosen by the method of least squares: it minimises the sum of the squared vertical distances between the points and the line. Those distances are the residuals. R-squared of 0.75 means 75 percent of the ups and downs in y are explained by x. The p-value of the slope tests the null hypothesis that the slope is zero; a p-value below 0.05 means x genuinely helps explain y. Before trusting a model we check the four LINE assumptions using a residual plot and a Q-Q plot. If they fail, the p-values and predictions cannot be trusted.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uses the mtcars data set that ships with R: 32 cars from a 1974 magazine. The relationship is negative, so the slope is below zero. Every extra thousand pounds costs about 5.3 miles per gallon, and weight alone explains 75 percent of the variation in fuel economy. The intercept of 37 is the predicted mpg of a car weighing nothing, which is physically meaningless but needed to position the line. Prediction example: a 3000 pound car, so wt equals 3, is predicted to do 37.3 minus 5.3 times 3, about 21 mpg. The p-value of the slope is 1.3 times 10 to the minus 10, so the effect is highly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equation works in every field. What changes is the meaning of the slope: rupees of spending per rupee of income, millimetres of mercury per year of age, marks per hour of study, price per square foot. In economics the slope of spending on income is the marginal propensity to consume, typically 0.7 to 0.9. In medicine systolic blood pressure rises roughly half to one millimetre of mercury per year of adult age. Ask the audience: what is y and what is x in your own job? That is the best check that the idea has landed.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these are called linear because the outcome is a linear combination of the coefficients. Polynomial regression fits a curve but is solved by exactly the same least squares machinery. Ridge and Lasso are multiple regression with a penalty that shrinks the coefficients to prevent overfitting when there are many predictors. We will now look at each type with a data set from a different profession.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predictor, one slope. The whole story fits on a single scatter plot, which makes it ideal for explaining results to farmers or managers who are not statisticians. Its weakness is that it ignores every other cause: rainfall, soil quality, seed variety. If those are correlated with fertilizer use, the slope will be biased. Use simple regression when there is a single dominant driver or as a first look before building a bigger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workhorse of business analytics. The key phrase is holding the others constant: b1 is the price of one extra square foot for houses with the same number of bedrooms, the same age and the same distance. Use adjusted R-squared rather than R-squared to compare models, because R-squared always rises when you add a predictor even if it is useless. Watch for multicollinearity: area and bedrooms are strongly related, so the model struggles to separate their effects. Variable selection by AIC drops predictors that do not earn their place. In the car example from the summative task, stepwise selection reduced ten predictors to three: weight, quarter-mile time and transmission.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dose-response curve is the classic case. Response rises with dose, then flattens or falls. A straight line cannot capture that, but adding a squared term can. A negative b2 gives an inverted U: more drug helps up to a point and then harms. The model is still linear in its coefficients, so lm handles it. Two warnings: always plot the fitted curve over the data, and never extrapolate a polynomial beyond the observed doses because the curve can shoot off in either direction.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on three axes: number of predictors, shape of the fitted relationship, and what can go wrong. Simple regression is the most interpretable but the least realistic. Multiple regression is realistic but needs care with correlated predictors. Polynomial handles curves but overfits easily. Ridge and Lasso trade a little bias for much lower variance when there are dozens of predictors, at the cost of coefficients that are harder to interpret. The rule: choose the simplest model that passes the assumption checks and has the lowest AIC or highest adjusted R-squared.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question to ask is: is my outcome a number, or a yes-no? A number means linear regression. A yes-no means logistic regression. Why not draw a straight line through zeros and ones? Because the line predicts values below zero and above one, which are not probabilities. The logistic curve, an S shape, squeezes any value into the zero to one range. Logistic regression is fitted by maximum likelihood rather than least squares, and its coefficients are read as odds ratios after taking the exponential.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bank, same customers, same four predictors. What decides the method is the type of outcome. For the spending question the model returns a rupee amount with a confidence interval. For the default question the model returns a probability, say 0.23. The bank then chooses a cut-off: above 0.20 reject, below approve. Moving the cut-off trades false approvals against false rejections. Logistic coefficients are read as odds ratios: exp of b equal to 1.5 means each extra unit of x multiplies the odds of default by 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Pima Indians Diabetes data has 768 women and records whether each developed diabetes. Each extra unit of glucose multiplies the odds of diabetes by 1.03, so about twenty extra units roughly doubles the odds. A new patient with glucose 150, BMI 33 and age 45 gets a predicted probability of 0.63. On a held-out test set the model is 75 percent accurate. It is better at ruling out diabetes, specificity 87 percent, than at catching it, sensitivity 53 percent. Lowering the cut-off from 0.5 to 0.3 would catch more cases at the cost of more false alarms. That cut-off trade-off does not exist in linear regression, which is another practical difference. If instead we wanted to predict the glucose level itself, a number, we would go back to lm.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repeating the decision rule: look at your y first. A number means linear regression; choose the simplest type that fits and passes the LINE checks. A yes-no means logistic regression; read odds ratios and choose a cut-off. Then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Harvard style. The mtcars and Pima data sets are the sources of all R output in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73152"/>
          </a:xfrm>
          <a:prstGeom prst="rect">
            <a:avLst/>
          </a:prstGeom>
          <a:solidFill>
            <a:srgbClr val="D0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515600" cy="1463040"/>
          </a:xfrm>
          <a:prstGeom prst="rect">
            <a:avLst/>
          </a:prstGeom>
          <a:noFill/>
        </p:spPr>
        <p:txBody>
          <a:bodyPr wrap="square" anchor="t">
            <a:spAutoFit/>
          </a:bodyPr>
          <a:lstStyle/>
          <a:p>
            <a:pPr algn="l"/>
            <a:r>
              <a:rPr sz="4800" b="1">
                <a:solidFill>
                  <a:srgbClr val="FFFFFF"/>
                </a:solidFill>
                <a:latin typeface="Calibri"/>
              </a:rPr>
              <a:t>Linear Regression Analysis</a:t>
            </a:r>
          </a:p>
        </p:txBody>
      </p:sp>
      <p:sp>
        <p:nvSpPr>
          <p:cNvPr id="5" name="TextBox 4"/>
          <p:cNvSpPr txBox="1"/>
          <p:nvPr/>
        </p:nvSpPr>
        <p:spPr>
          <a:xfrm>
            <a:off x="731520" y="2651760"/>
            <a:ext cx="10515600" cy="1280160"/>
          </a:xfrm>
          <a:prstGeom prst="rect">
            <a:avLst/>
          </a:prstGeom>
          <a:noFill/>
        </p:spPr>
        <p:txBody>
          <a:bodyPr wrap="square" anchor="t">
            <a:spAutoFit/>
          </a:bodyPr>
          <a:lstStyle/>
          <a:p>
            <a:pPr algn="l"/>
            <a:r>
              <a:rPr sz="2600" b="0">
                <a:solidFill>
                  <a:srgbClr val="C9D3DF"/>
                </a:solidFill>
                <a:latin typeface="Calibri"/>
              </a:rPr>
              <a:t>Concepts, Types, and Comparison with Logistic Regression</a:t>
            </a:r>
          </a:p>
        </p:txBody>
      </p:sp>
      <p:sp>
        <p:nvSpPr>
          <p:cNvPr id="6" name="TextBox 5"/>
          <p:cNvSpPr txBox="1"/>
          <p:nvPr/>
        </p:nvSpPr>
        <p:spPr>
          <a:xfrm>
            <a:off x="731520" y="4480560"/>
            <a:ext cx="10515600" cy="1828800"/>
          </a:xfrm>
          <a:prstGeom prst="rect">
            <a:avLst/>
          </a:prstGeom>
          <a:noFill/>
        </p:spPr>
        <p:txBody>
          <a:bodyPr wrap="square" anchor="t">
            <a:spAutoFit/>
          </a:bodyPr>
          <a:lstStyle/>
          <a:p>
            <a:pPr algn="l"/>
            <a:r>
              <a:rPr sz="1600" b="0">
                <a:solidFill>
                  <a:srgbClr val="FFFFFF"/>
                </a:solidFill>
                <a:latin typeface="Calibri"/>
              </a:rPr>
              <a:t>Master of Science in Data Science  |  Formative Assignment (40 marks)</a:t>
            </a:r>
          </a:p>
          <a:p>
            <a:pPr algn="l"/>
            <a:r>
              <a:rPr sz="1600" b="0">
                <a:solidFill>
                  <a:srgbClr val="FFFFFF"/>
                </a:solidFill>
                <a:latin typeface="Calibri"/>
              </a:rPr>
              <a:t>Student Name:  ____________________        Student ID:  ____________</a:t>
            </a:r>
          </a:p>
          <a:p>
            <a:pPr algn="l"/>
            <a:r>
              <a:rPr sz="1600" b="0">
                <a:solidFill>
                  <a:srgbClr val="FFFFFF"/>
                </a:solidFill>
                <a:latin typeface="Calibri"/>
              </a:rPr>
              <a:t>Email:  ____________________               Date:  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What is Linear Regression?</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1 : Concept</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1</a:t>
            </a:r>
          </a:p>
        </p:txBody>
      </p:sp>
      <p:sp>
        <p:nvSpPr>
          <p:cNvPr id="7" name="TextBox 6"/>
          <p:cNvSpPr txBox="1"/>
          <p:nvPr/>
        </p:nvSpPr>
        <p:spPr>
          <a:xfrm>
            <a:off x="548640" y="1280160"/>
            <a:ext cx="6035040" cy="4846320"/>
          </a:xfrm>
          <a:prstGeom prst="rect">
            <a:avLst/>
          </a:prstGeom>
          <a:noFill/>
        </p:spPr>
        <p:txBody>
          <a:bodyPr wrap="square">
            <a:spAutoFit/>
          </a:bodyPr>
          <a:lstStyle/>
          <a:p>
            <a:pPr>
              <a:spcAft>
                <a:spcPts val="600"/>
              </a:spcAft>
            </a:pPr>
            <a:r>
              <a:rPr sz="1800" b="0">
                <a:solidFill>
                  <a:srgbClr val="222222"/>
                </a:solidFill>
                <a:latin typeface="Calibri"/>
              </a:rPr>
              <a:t>• A statistical method that models the relationship between a </a:t>
            </a:r>
            <a:r>
              <a:rPr sz="1800" b="1">
                <a:solidFill>
                  <a:srgbClr val="222222"/>
                </a:solidFill>
                <a:latin typeface="Calibri"/>
              </a:rPr>
              <a:t>numeric outcome</a:t>
            </a:r>
            <a:r>
              <a:rPr sz="1800" b="0">
                <a:solidFill>
                  <a:srgbClr val="222222"/>
                </a:solidFill>
                <a:latin typeface="Calibri"/>
              </a:rPr>
              <a:t> (y) and one or more </a:t>
            </a:r>
            <a:r>
              <a:rPr sz="1800" b="1">
                <a:solidFill>
                  <a:srgbClr val="222222"/>
                </a:solidFill>
                <a:latin typeface="Calibri"/>
              </a:rPr>
              <a:t>predictors</a:t>
            </a:r>
            <a:r>
              <a:rPr sz="1800" b="0">
                <a:solidFill>
                  <a:srgbClr val="222222"/>
                </a:solidFill>
                <a:latin typeface="Calibri"/>
              </a:rPr>
              <a:t> (x)</a:t>
            </a:r>
          </a:p>
          <a:p>
            <a:pPr>
              <a:spcAft>
                <a:spcPts val="600"/>
              </a:spcAft>
            </a:pPr>
            <a:r>
              <a:rPr sz="1800" b="0">
                <a:solidFill>
                  <a:srgbClr val="222222"/>
                </a:solidFill>
                <a:latin typeface="Calibri"/>
              </a:rPr>
              <a:t>• Fits a straight line through the data:</a:t>
            </a:r>
          </a:p>
          <a:p>
            <a:pPr lvl="1">
              <a:spcAft>
                <a:spcPts val="600"/>
              </a:spcAft>
            </a:pPr>
            <a:r>
              <a:rPr sz="1600" b="0">
                <a:solidFill>
                  <a:srgbClr val="222222"/>
                </a:solidFill>
                <a:latin typeface="Calibri"/>
              </a:rPr>
              <a:t>– y  =  b₀  +  b₁ x  +  ε</a:t>
            </a:r>
          </a:p>
          <a:p>
            <a:pPr lvl="1">
              <a:spcAft>
                <a:spcPts val="600"/>
              </a:spcAft>
            </a:pPr>
            <a:r>
              <a:rPr sz="1600" b="0">
                <a:solidFill>
                  <a:srgbClr val="222222"/>
                </a:solidFill>
                <a:latin typeface="Calibri"/>
              </a:rPr>
              <a:t>– b₀ = intercept : value of y when x = 0</a:t>
            </a:r>
          </a:p>
          <a:p>
            <a:pPr lvl="1">
              <a:spcAft>
                <a:spcPts val="600"/>
              </a:spcAft>
            </a:pPr>
            <a:r>
              <a:rPr sz="1600" b="0">
                <a:solidFill>
                  <a:srgbClr val="222222"/>
                </a:solidFill>
                <a:latin typeface="Calibri"/>
              </a:rPr>
              <a:t>– b₁ = slope : change in y for a one-unit increase in x</a:t>
            </a:r>
          </a:p>
          <a:p>
            <a:pPr lvl="1">
              <a:spcAft>
                <a:spcPts val="600"/>
              </a:spcAft>
            </a:pPr>
            <a:r>
              <a:rPr sz="1600" b="0">
                <a:solidFill>
                  <a:srgbClr val="222222"/>
                </a:solidFill>
                <a:latin typeface="Calibri"/>
              </a:rPr>
              <a:t>– ε = error : what the line cannot explain</a:t>
            </a:r>
          </a:p>
          <a:p>
            <a:pPr>
              <a:spcAft>
                <a:spcPts val="600"/>
              </a:spcAft>
            </a:pPr>
            <a:r>
              <a:rPr sz="1800" b="0">
                <a:solidFill>
                  <a:srgbClr val="222222"/>
                </a:solidFill>
                <a:latin typeface="Calibri"/>
              </a:rPr>
              <a:t>• Two uses: </a:t>
            </a:r>
            <a:r>
              <a:rPr sz="1800" b="1">
                <a:solidFill>
                  <a:srgbClr val="222222"/>
                </a:solidFill>
                <a:latin typeface="Calibri"/>
              </a:rPr>
              <a:t>explain</a:t>
            </a:r>
            <a:r>
              <a:rPr sz="1800" b="0">
                <a:solidFill>
                  <a:srgbClr val="222222"/>
                </a:solidFill>
                <a:latin typeface="Calibri"/>
              </a:rPr>
              <a:t> which factors matter, and </a:t>
            </a:r>
            <a:r>
              <a:rPr sz="1800" b="1">
                <a:solidFill>
                  <a:srgbClr val="222222"/>
                </a:solidFill>
                <a:latin typeface="Calibri"/>
              </a:rPr>
              <a:t>predict</a:t>
            </a:r>
            <a:r>
              <a:rPr sz="1800" b="0">
                <a:solidFill>
                  <a:srgbClr val="222222"/>
                </a:solidFill>
                <a:latin typeface="Calibri"/>
              </a:rPr>
              <a:t> y for new cases</a:t>
            </a:r>
          </a:p>
          <a:p>
            <a:pPr>
              <a:spcAft>
                <a:spcPts val="600"/>
              </a:spcAft>
            </a:pPr>
            <a:r>
              <a:rPr sz="1800" b="0">
                <a:solidFill>
                  <a:srgbClr val="222222"/>
                </a:solidFill>
                <a:latin typeface="Calibri"/>
              </a:rPr>
              <a:t>• Outcome must be </a:t>
            </a:r>
            <a:r>
              <a:rPr sz="1800" b="1">
                <a:solidFill>
                  <a:srgbClr val="222222"/>
                </a:solidFill>
                <a:latin typeface="Calibri"/>
              </a:rPr>
              <a:t>continuous</a:t>
            </a:r>
            <a:r>
              <a:rPr sz="1800" b="0">
                <a:solidFill>
                  <a:srgbClr val="222222"/>
                </a:solidFill>
                <a:latin typeface="Calibri"/>
              </a:rPr>
              <a:t> (price, weight, yield, mpg)</a:t>
            </a:r>
          </a:p>
        </p:txBody>
      </p:sp>
      <p:pic>
        <p:nvPicPr>
          <p:cNvPr id="8" name="Picture 7" descr="least_squares.png"/>
          <p:cNvPicPr>
            <a:picLocks noChangeAspect="1"/>
          </p:cNvPicPr>
          <p:nvPr/>
        </p:nvPicPr>
        <p:blipFill>
          <a:blip r:embed="rId3"/>
          <a:stretch>
            <a:fillRect/>
          </a:stretch>
        </p:blipFill>
        <p:spPr>
          <a:xfrm>
            <a:off x="6766560" y="1371600"/>
            <a:ext cx="5029200" cy="3352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How the Line is Fitted and Judged</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1 : Concept</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2</a:t>
            </a:r>
          </a:p>
        </p:txBody>
      </p:sp>
      <p:sp>
        <p:nvSpPr>
          <p:cNvPr id="7" name="TextBox 6"/>
          <p:cNvSpPr txBox="1"/>
          <p:nvPr/>
        </p:nvSpPr>
        <p:spPr>
          <a:xfrm>
            <a:off x="548640" y="1280160"/>
            <a:ext cx="5669280" cy="4846320"/>
          </a:xfrm>
          <a:prstGeom prst="rect">
            <a:avLst/>
          </a:prstGeom>
          <a:noFill/>
        </p:spPr>
        <p:txBody>
          <a:bodyPr wrap="square">
            <a:spAutoFit/>
          </a:bodyPr>
          <a:lstStyle/>
          <a:p>
            <a:pPr>
              <a:spcAft>
                <a:spcPts val="600"/>
              </a:spcAft>
            </a:pPr>
            <a:r>
              <a:rPr sz="1800" b="1">
                <a:solidFill>
                  <a:srgbClr val="222222"/>
                </a:solidFill>
                <a:latin typeface="Calibri"/>
              </a:rPr>
              <a:t>• Least squares</a:t>
            </a:r>
            <a:r>
              <a:rPr sz="1800" b="0">
                <a:solidFill>
                  <a:srgbClr val="222222"/>
                </a:solidFill>
                <a:latin typeface="Calibri"/>
              </a:rPr>
              <a:t>: choose b₀, b₁ to minimise  Σ (yᵢ − ŷᵢ)²</a:t>
            </a:r>
          </a:p>
          <a:p>
            <a:pPr>
              <a:spcAft>
                <a:spcPts val="600"/>
              </a:spcAft>
            </a:pPr>
            <a:r>
              <a:rPr sz="1800" b="0">
                <a:solidFill>
                  <a:srgbClr val="222222"/>
                </a:solidFill>
                <a:latin typeface="Calibri"/>
              </a:rPr>
              <a:t>• Key outputs to read:</a:t>
            </a:r>
          </a:p>
          <a:p>
            <a:pPr lvl="1">
              <a:spcAft>
                <a:spcPts val="600"/>
              </a:spcAft>
            </a:pPr>
            <a:r>
              <a:rPr sz="1600" b="1">
                <a:solidFill>
                  <a:srgbClr val="222222"/>
                </a:solidFill>
                <a:latin typeface="Calibri"/>
              </a:rPr>
              <a:t>– Coefficients</a:t>
            </a:r>
            <a:r>
              <a:rPr sz="1600" b="0">
                <a:solidFill>
                  <a:srgbClr val="222222"/>
                </a:solidFill>
                <a:latin typeface="Calibri"/>
              </a:rPr>
              <a:t> with p-values : is the slope different from 0 ?</a:t>
            </a:r>
          </a:p>
          <a:p>
            <a:pPr lvl="1">
              <a:spcAft>
                <a:spcPts val="600"/>
              </a:spcAft>
            </a:pPr>
            <a:r>
              <a:rPr sz="1600" b="1">
                <a:solidFill>
                  <a:srgbClr val="222222"/>
                </a:solidFill>
                <a:latin typeface="Calibri"/>
              </a:rPr>
              <a:t>– R²</a:t>
            </a:r>
            <a:r>
              <a:rPr sz="1600" b="0">
                <a:solidFill>
                  <a:srgbClr val="222222"/>
                </a:solidFill>
                <a:latin typeface="Calibri"/>
              </a:rPr>
              <a:t> : share of variation in y explained (0 to 1)</a:t>
            </a:r>
          </a:p>
          <a:p>
            <a:pPr lvl="1">
              <a:spcAft>
                <a:spcPts val="600"/>
              </a:spcAft>
            </a:pPr>
            <a:r>
              <a:rPr sz="1600" b="1">
                <a:solidFill>
                  <a:srgbClr val="222222"/>
                </a:solidFill>
                <a:latin typeface="Calibri"/>
              </a:rPr>
              <a:t>– Residual standard error</a:t>
            </a:r>
            <a:r>
              <a:rPr sz="1600" b="0">
                <a:solidFill>
                  <a:srgbClr val="222222"/>
                </a:solidFill>
                <a:latin typeface="Calibri"/>
              </a:rPr>
              <a:t> : typical size of a prediction error</a:t>
            </a:r>
          </a:p>
          <a:p>
            <a:pPr>
              <a:spcAft>
                <a:spcPts val="600"/>
              </a:spcAft>
            </a:pPr>
            <a:r>
              <a:rPr sz="1800" b="0">
                <a:solidFill>
                  <a:srgbClr val="222222"/>
                </a:solidFill>
                <a:latin typeface="Calibri"/>
              </a:rPr>
              <a:t>• Assumptions (</a:t>
            </a:r>
            <a:r>
              <a:rPr sz="1800" b="1">
                <a:solidFill>
                  <a:srgbClr val="222222"/>
                </a:solidFill>
                <a:latin typeface="Calibri"/>
              </a:rPr>
              <a:t>LINE</a:t>
            </a:r>
            <a:r>
              <a:rPr sz="1800" b="0">
                <a:solidFill>
                  <a:srgbClr val="222222"/>
                </a:solidFill>
                <a:latin typeface="Calibri"/>
              </a:rPr>
              <a:t>):</a:t>
            </a:r>
          </a:p>
          <a:p>
            <a:pPr lvl="1">
              <a:spcAft>
                <a:spcPts val="600"/>
              </a:spcAft>
            </a:pPr>
            <a:r>
              <a:rPr sz="1600" b="1">
                <a:solidFill>
                  <a:srgbClr val="222222"/>
                </a:solidFill>
                <a:latin typeface="Calibri"/>
              </a:rPr>
              <a:t>– L</a:t>
            </a:r>
            <a:r>
              <a:rPr sz="1600" b="0">
                <a:solidFill>
                  <a:srgbClr val="222222"/>
                </a:solidFill>
                <a:latin typeface="Calibri"/>
              </a:rPr>
              <a:t>inearity  •  </a:t>
            </a:r>
            <a:r>
              <a:rPr sz="1600" b="1">
                <a:solidFill>
                  <a:srgbClr val="222222"/>
                </a:solidFill>
                <a:latin typeface="Calibri"/>
              </a:rPr>
              <a:t>I</a:t>
            </a:r>
            <a:r>
              <a:rPr sz="1600" b="0">
                <a:solidFill>
                  <a:srgbClr val="222222"/>
                </a:solidFill>
                <a:latin typeface="Calibri"/>
              </a:rPr>
              <a:t>ndependence</a:t>
            </a:r>
          </a:p>
          <a:p>
            <a:pPr lvl="1">
              <a:spcAft>
                <a:spcPts val="600"/>
              </a:spcAft>
            </a:pPr>
            <a:r>
              <a:rPr sz="1600" b="1">
                <a:solidFill>
                  <a:srgbClr val="222222"/>
                </a:solidFill>
                <a:latin typeface="Calibri"/>
              </a:rPr>
              <a:t>– N</a:t>
            </a:r>
            <a:r>
              <a:rPr sz="1600" b="0">
                <a:solidFill>
                  <a:srgbClr val="222222"/>
                </a:solidFill>
                <a:latin typeface="Calibri"/>
              </a:rPr>
              <a:t>ormal residuals  •  </a:t>
            </a:r>
            <a:r>
              <a:rPr sz="1600" b="1">
                <a:solidFill>
                  <a:srgbClr val="222222"/>
                </a:solidFill>
                <a:latin typeface="Calibri"/>
              </a:rPr>
              <a:t>E</a:t>
            </a:r>
            <a:r>
              <a:rPr sz="1600" b="0">
                <a:solidFill>
                  <a:srgbClr val="222222"/>
                </a:solidFill>
                <a:latin typeface="Calibri"/>
              </a:rPr>
              <a:t>qual variance</a:t>
            </a:r>
          </a:p>
          <a:p>
            <a:pPr>
              <a:spcAft>
                <a:spcPts val="600"/>
              </a:spcAft>
            </a:pPr>
            <a:r>
              <a:rPr sz="1800" b="0">
                <a:solidFill>
                  <a:srgbClr val="222222"/>
                </a:solidFill>
                <a:latin typeface="Calibri"/>
              </a:rPr>
              <a:t>• Check with residual plots and a Q-Q plot before trusting the model</a:t>
            </a:r>
          </a:p>
        </p:txBody>
      </p:sp>
      <p:graphicFrame>
        <p:nvGraphicFramePr>
          <p:cNvPr id="8" name="Table 7"/>
          <p:cNvGraphicFramePr>
            <a:graphicFrameLocks noGrp="1"/>
          </p:cNvGraphicFramePr>
          <p:nvPr/>
        </p:nvGraphicFramePr>
        <p:xfrm>
          <a:off x="6583680" y="1463040"/>
          <a:ext cx="5120640" cy="2194560"/>
        </p:xfrm>
        <a:graphic>
          <a:graphicData uri="http://schemas.openxmlformats.org/drawingml/2006/table">
            <a:tbl>
              <a:tblPr firstRow="1" bandRow="1">
                <a:tableStyleId>{5C22544A-7EE6-4342-B048-85BDC9FD1C3A}</a:tableStyleId>
              </a:tblPr>
              <a:tblGrid>
                <a:gridCol w="1371600"/>
                <a:gridCol w="2011680"/>
                <a:gridCol w="1737360"/>
              </a:tblGrid>
              <a:tr h="438912">
                <a:tc>
                  <a:txBody>
                    <a:bodyPr/>
                    <a:lstStyle/>
                    <a:p>
                      <a:r>
                        <a:rPr sz="1300" b="1">
                          <a:solidFill>
                            <a:srgbClr val="FFFFFF"/>
                          </a:solidFill>
                          <a:latin typeface="Calibri"/>
                        </a:rPr>
                        <a:t>Output</a:t>
                      </a:r>
                    </a:p>
                  </a:txBody>
                  <a:tcPr marT="36576" marB="36576">
                    <a:solidFill>
                      <a:srgbClr val="2E5A88"/>
                    </a:solidFill>
                  </a:tcPr>
                </a:tc>
                <a:tc>
                  <a:txBody>
                    <a:bodyPr/>
                    <a:lstStyle/>
                    <a:p>
                      <a:r>
                        <a:rPr sz="1300" b="1">
                          <a:solidFill>
                            <a:srgbClr val="FFFFFF"/>
                          </a:solidFill>
                          <a:latin typeface="Calibri"/>
                        </a:rPr>
                        <a:t>Meaning</a:t>
                      </a:r>
                    </a:p>
                  </a:txBody>
                  <a:tcPr marT="36576" marB="36576">
                    <a:solidFill>
                      <a:srgbClr val="2E5A88"/>
                    </a:solidFill>
                  </a:tcPr>
                </a:tc>
                <a:tc>
                  <a:txBody>
                    <a:bodyPr/>
                    <a:lstStyle/>
                    <a:p>
                      <a:r>
                        <a:rPr sz="1300" b="1">
                          <a:solidFill>
                            <a:srgbClr val="FFFFFF"/>
                          </a:solidFill>
                          <a:latin typeface="Calibri"/>
                        </a:rPr>
                        <a:t>Good sign</a:t>
                      </a:r>
                    </a:p>
                  </a:txBody>
                  <a:tcPr marT="36576" marB="36576">
                    <a:solidFill>
                      <a:srgbClr val="2E5A88"/>
                    </a:solidFill>
                  </a:tcPr>
                </a:tc>
              </a:tr>
              <a:tr h="438912">
                <a:tc>
                  <a:txBody>
                    <a:bodyPr/>
                    <a:lstStyle/>
                    <a:p>
                      <a:r>
                        <a:rPr sz="1300" b="0">
                          <a:solidFill>
                            <a:srgbClr val="222222"/>
                          </a:solidFill>
                          <a:latin typeface="Calibri"/>
                        </a:rPr>
                        <a:t>Slope p-value</a:t>
                      </a:r>
                    </a:p>
                  </a:txBody>
                  <a:tcPr marT="36576" marB="36576">
                    <a:solidFill>
                      <a:srgbClr val="FFFFFF"/>
                    </a:solidFill>
                  </a:tcPr>
                </a:tc>
                <a:tc>
                  <a:txBody>
                    <a:bodyPr/>
                    <a:lstStyle/>
                    <a:p>
                      <a:r>
                        <a:rPr sz="1300" b="0">
                          <a:solidFill>
                            <a:srgbClr val="222222"/>
                          </a:solidFill>
                          <a:latin typeface="Calibri"/>
                        </a:rPr>
                        <a:t>H₀: slope = 0</a:t>
                      </a:r>
                    </a:p>
                  </a:txBody>
                  <a:tcPr marT="36576" marB="36576">
                    <a:solidFill>
                      <a:srgbClr val="FFFFFF"/>
                    </a:solidFill>
                  </a:tcPr>
                </a:tc>
                <a:tc>
                  <a:txBody>
                    <a:bodyPr/>
                    <a:lstStyle/>
                    <a:p>
                      <a:r>
                        <a:rPr sz="1300" b="0">
                          <a:solidFill>
                            <a:srgbClr val="222222"/>
                          </a:solidFill>
                          <a:latin typeface="Calibri"/>
                        </a:rPr>
                        <a:t>&lt; 0.05</a:t>
                      </a:r>
                    </a:p>
                  </a:txBody>
                  <a:tcPr marT="36576" marB="36576">
                    <a:solidFill>
                      <a:srgbClr val="FFFFFF"/>
                    </a:solidFill>
                  </a:tcPr>
                </a:tc>
              </a:tr>
              <a:tr h="438912">
                <a:tc>
                  <a:txBody>
                    <a:bodyPr/>
                    <a:lstStyle/>
                    <a:p>
                      <a:r>
                        <a:rPr sz="1300" b="0">
                          <a:solidFill>
                            <a:srgbClr val="222222"/>
                          </a:solidFill>
                          <a:latin typeface="Calibri"/>
                        </a:rPr>
                        <a:t>R²</a:t>
                      </a:r>
                    </a:p>
                  </a:txBody>
                  <a:tcPr marT="36576" marB="36576">
                    <a:solidFill>
                      <a:srgbClr val="F2F5F9"/>
                    </a:solidFill>
                  </a:tcPr>
                </a:tc>
                <a:tc>
                  <a:txBody>
                    <a:bodyPr/>
                    <a:lstStyle/>
                    <a:p>
                      <a:r>
                        <a:rPr sz="1300" b="0">
                          <a:solidFill>
                            <a:srgbClr val="222222"/>
                          </a:solidFill>
                          <a:latin typeface="Calibri"/>
                        </a:rPr>
                        <a:t>Variation explained</a:t>
                      </a:r>
                    </a:p>
                  </a:txBody>
                  <a:tcPr marT="36576" marB="36576">
                    <a:solidFill>
                      <a:srgbClr val="F2F5F9"/>
                    </a:solidFill>
                  </a:tcPr>
                </a:tc>
                <a:tc>
                  <a:txBody>
                    <a:bodyPr/>
                    <a:lstStyle/>
                    <a:p>
                      <a:r>
                        <a:rPr sz="1300" b="0">
                          <a:solidFill>
                            <a:srgbClr val="222222"/>
                          </a:solidFill>
                          <a:latin typeface="Calibri"/>
                        </a:rPr>
                        <a:t>Close to 1</a:t>
                      </a:r>
                    </a:p>
                  </a:txBody>
                  <a:tcPr marT="36576" marB="36576">
                    <a:solidFill>
                      <a:srgbClr val="F2F5F9"/>
                    </a:solidFill>
                  </a:tcPr>
                </a:tc>
              </a:tr>
              <a:tr h="438912">
                <a:tc>
                  <a:txBody>
                    <a:bodyPr/>
                    <a:lstStyle/>
                    <a:p>
                      <a:r>
                        <a:rPr sz="1300" b="0">
                          <a:solidFill>
                            <a:srgbClr val="222222"/>
                          </a:solidFill>
                          <a:latin typeface="Calibri"/>
                        </a:rPr>
                        <a:t>Residual SE</a:t>
                      </a:r>
                    </a:p>
                  </a:txBody>
                  <a:tcPr marT="36576" marB="36576">
                    <a:solidFill>
                      <a:srgbClr val="FFFFFF"/>
                    </a:solidFill>
                  </a:tcPr>
                </a:tc>
                <a:tc>
                  <a:txBody>
                    <a:bodyPr/>
                    <a:lstStyle/>
                    <a:p>
                      <a:r>
                        <a:rPr sz="1300" b="0">
                          <a:solidFill>
                            <a:srgbClr val="222222"/>
                          </a:solidFill>
                          <a:latin typeface="Calibri"/>
                        </a:rPr>
                        <a:t>Typical error</a:t>
                      </a:r>
                    </a:p>
                  </a:txBody>
                  <a:tcPr marT="36576" marB="36576">
                    <a:solidFill>
                      <a:srgbClr val="FFFFFF"/>
                    </a:solidFill>
                  </a:tcPr>
                </a:tc>
                <a:tc>
                  <a:txBody>
                    <a:bodyPr/>
                    <a:lstStyle/>
                    <a:p>
                      <a:r>
                        <a:rPr sz="1300" b="0">
                          <a:solidFill>
                            <a:srgbClr val="222222"/>
                          </a:solidFill>
                          <a:latin typeface="Calibri"/>
                        </a:rPr>
                        <a:t>Small vs range of y</a:t>
                      </a:r>
                    </a:p>
                  </a:txBody>
                  <a:tcPr marT="36576" marB="36576">
                    <a:solidFill>
                      <a:srgbClr val="FFFFFF"/>
                    </a:solidFill>
                  </a:tcPr>
                </a:tc>
              </a:tr>
              <a:tr h="438912">
                <a:tc>
                  <a:txBody>
                    <a:bodyPr/>
                    <a:lstStyle/>
                    <a:p>
                      <a:r>
                        <a:rPr sz="1300" b="0">
                          <a:solidFill>
                            <a:srgbClr val="222222"/>
                          </a:solidFill>
                          <a:latin typeface="Calibri"/>
                        </a:rPr>
                        <a:t>F-statistic</a:t>
                      </a:r>
                    </a:p>
                  </a:txBody>
                  <a:tcPr marT="36576" marB="36576">
                    <a:solidFill>
                      <a:srgbClr val="F2F5F9"/>
                    </a:solidFill>
                  </a:tcPr>
                </a:tc>
                <a:tc>
                  <a:txBody>
                    <a:bodyPr/>
                    <a:lstStyle/>
                    <a:p>
                      <a:r>
                        <a:rPr sz="1300" b="0">
                          <a:solidFill>
                            <a:srgbClr val="222222"/>
                          </a:solidFill>
                          <a:latin typeface="Calibri"/>
                        </a:rPr>
                        <a:t>Whole model useful?</a:t>
                      </a:r>
                    </a:p>
                  </a:txBody>
                  <a:tcPr marT="36576" marB="36576">
                    <a:solidFill>
                      <a:srgbClr val="F2F5F9"/>
                    </a:solidFill>
                  </a:tcPr>
                </a:tc>
                <a:tc>
                  <a:txBody>
                    <a:bodyPr/>
                    <a:lstStyle/>
                    <a:p>
                      <a:r>
                        <a:rPr sz="1300" b="0">
                          <a:solidFill>
                            <a:srgbClr val="222222"/>
                          </a:solidFill>
                          <a:latin typeface="Calibri"/>
                        </a:rPr>
                        <a:t>p &lt; 0.05</a:t>
                      </a:r>
                    </a:p>
                  </a:txBody>
                  <a:tcPr marT="36576" marB="36576">
                    <a:solidFill>
                      <a:srgbClr val="F2F5F9"/>
                    </a:solidFill>
                  </a:tcPr>
                </a:tc>
              </a:tr>
            </a:tbl>
          </a:graphicData>
        </a:graphic>
      </p:graphicFrame>
      <p:sp>
        <p:nvSpPr>
          <p:cNvPr id="9" name="Rectangle 8"/>
          <p:cNvSpPr/>
          <p:nvPr/>
        </p:nvSpPr>
        <p:spPr>
          <a:xfrm>
            <a:off x="6583680" y="3931920"/>
            <a:ext cx="5120640" cy="146304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a:solidFill>
                  <a:srgbClr val="222222"/>
                </a:solidFill>
                <a:latin typeface="Consolas"/>
              </a:rPr>
              <a:t>model &lt;- lm(y ~ x, data = mydata)</a:t>
            </a:r>
          </a:p>
          <a:p>
            <a:pPr algn="l"/>
            <a:r>
              <a:rPr sz="1300">
                <a:solidFill>
                  <a:srgbClr val="222222"/>
                </a:solidFill>
                <a:latin typeface="Consolas"/>
              </a:rPr>
              <a:t>summary(model)      # coefficients, R2, p-values</a:t>
            </a:r>
          </a:p>
          <a:p>
            <a:pPr algn="l"/>
            <a:r>
              <a:rPr sz="1300">
                <a:solidFill>
                  <a:srgbClr val="222222"/>
                </a:solidFill>
                <a:latin typeface="Consolas"/>
              </a:rPr>
              <a:t>plot(model)         # 4 diagnostic plots</a:t>
            </a:r>
          </a:p>
          <a:p>
            <a:pPr algn="l"/>
            <a:r>
              <a:rPr sz="1300">
                <a:solidFill>
                  <a:srgbClr val="222222"/>
                </a:solidFill>
                <a:latin typeface="Consolas"/>
              </a:rPr>
              <a:t>predict(model, newdata = data.frame(x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Example 1 : Car Weight and Fuel Economy</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1 : Concept</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3</a:t>
            </a:r>
          </a:p>
        </p:txBody>
      </p:sp>
      <p:pic>
        <p:nvPicPr>
          <p:cNvPr id="7" name="Picture 6" descr="mpg_wt.png"/>
          <p:cNvPicPr>
            <a:picLocks noChangeAspect="1"/>
          </p:cNvPicPr>
          <p:nvPr/>
        </p:nvPicPr>
        <p:blipFill>
          <a:blip r:embed="rId3"/>
          <a:stretch>
            <a:fillRect/>
          </a:stretch>
        </p:blipFill>
        <p:spPr>
          <a:xfrm>
            <a:off x="457200" y="1280160"/>
            <a:ext cx="6035040" cy="4023360"/>
          </a:xfrm>
          <a:prstGeom prst="rect">
            <a:avLst/>
          </a:prstGeom>
        </p:spPr>
      </p:pic>
      <p:sp>
        <p:nvSpPr>
          <p:cNvPr id="8" name="Rectangle 7"/>
          <p:cNvSpPr/>
          <p:nvPr/>
        </p:nvSpPr>
        <p:spPr>
          <a:xfrm>
            <a:off x="6766560" y="1280160"/>
            <a:ext cx="5029200" cy="201168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a:solidFill>
                  <a:srgbClr val="222222"/>
                </a:solidFill>
                <a:latin typeface="Consolas"/>
              </a:rPr>
              <a:t>model &lt;- lm(mpg ~ wt, data = mtcars)</a:t>
            </a:r>
          </a:p>
          <a:p>
            <a:pPr algn="l"/>
            <a:r>
              <a:rPr sz="1300">
                <a:solidFill>
                  <a:srgbClr val="222222"/>
                </a:solidFill>
                <a:latin typeface="Consolas"/>
              </a:rPr>
              <a:t>coef(model)</a:t>
            </a:r>
          </a:p>
          <a:p>
            <a:pPr algn="l"/>
            <a:r>
              <a:rPr sz="1300">
                <a:solidFill>
                  <a:srgbClr val="1F3A5F"/>
                </a:solidFill>
                <a:latin typeface="Consolas"/>
              </a:rPr>
              <a:t># (Intercept)          wt</a:t>
            </a:r>
          </a:p>
          <a:p>
            <a:pPr algn="l"/>
            <a:r>
              <a:rPr sz="1300">
                <a:solidFill>
                  <a:srgbClr val="1F3A5F"/>
                </a:solidFill>
                <a:latin typeface="Consolas"/>
              </a:rPr>
              <a:t>#      37.285      -5.344</a:t>
            </a:r>
          </a:p>
          <a:p>
            <a:pPr algn="l"/>
            <a:r>
              <a:rPr sz="1300">
                <a:solidFill>
                  <a:srgbClr val="222222"/>
                </a:solidFill>
                <a:latin typeface="Consolas"/>
              </a:rPr>
              <a:t>summary(model)$r.squared</a:t>
            </a:r>
          </a:p>
          <a:p>
            <a:pPr algn="l"/>
            <a:r>
              <a:rPr sz="1300">
                <a:solidFill>
                  <a:srgbClr val="1F3A5F"/>
                </a:solidFill>
                <a:latin typeface="Consolas"/>
              </a:rPr>
              <a:t># 0.753</a:t>
            </a:r>
          </a:p>
        </p:txBody>
      </p:sp>
      <p:sp>
        <p:nvSpPr>
          <p:cNvPr id="9" name="TextBox 8"/>
          <p:cNvSpPr txBox="1"/>
          <p:nvPr/>
        </p:nvSpPr>
        <p:spPr>
          <a:xfrm>
            <a:off x="6766560" y="3749039"/>
            <a:ext cx="5029200" cy="2560320"/>
          </a:xfrm>
          <a:prstGeom prst="rect">
            <a:avLst/>
          </a:prstGeom>
          <a:noFill/>
        </p:spPr>
        <p:txBody>
          <a:bodyPr wrap="square">
            <a:spAutoFit/>
          </a:bodyPr>
          <a:lstStyle/>
          <a:p>
            <a:pPr>
              <a:spcAft>
                <a:spcPts val="600"/>
              </a:spcAft>
            </a:pPr>
            <a:r>
              <a:rPr sz="1600" b="0">
                <a:solidFill>
                  <a:srgbClr val="222222"/>
                </a:solidFill>
                <a:latin typeface="Calibri"/>
              </a:rPr>
              <a:t>• Engineering data: 32 cars, weight vs miles per gallon</a:t>
            </a:r>
          </a:p>
          <a:p>
            <a:pPr>
              <a:spcAft>
                <a:spcPts val="600"/>
              </a:spcAft>
            </a:pPr>
            <a:r>
              <a:rPr sz="1600" b="0">
                <a:solidFill>
                  <a:srgbClr val="222222"/>
                </a:solidFill>
                <a:latin typeface="Calibri"/>
              </a:rPr>
              <a:t>• Every extra 1000 lbs costs about </a:t>
            </a:r>
            <a:r>
              <a:rPr sz="1600" b="1">
                <a:solidFill>
                  <a:srgbClr val="222222"/>
                </a:solidFill>
                <a:latin typeface="Calibri"/>
              </a:rPr>
              <a:t>5.3 mpg</a:t>
            </a:r>
          </a:p>
          <a:p>
            <a:pPr>
              <a:spcAft>
                <a:spcPts val="600"/>
              </a:spcAft>
            </a:pPr>
            <a:r>
              <a:rPr sz="1600" b="0">
                <a:solidFill>
                  <a:srgbClr val="222222"/>
                </a:solidFill>
                <a:latin typeface="Calibri"/>
              </a:rPr>
              <a:t>• Weight explains </a:t>
            </a:r>
            <a:r>
              <a:rPr sz="1600" b="1">
                <a:solidFill>
                  <a:srgbClr val="222222"/>
                </a:solidFill>
                <a:latin typeface="Calibri"/>
              </a:rPr>
              <a:t>75 %</a:t>
            </a:r>
            <a:r>
              <a:rPr sz="1600" b="0">
                <a:solidFill>
                  <a:srgbClr val="222222"/>
                </a:solidFill>
                <a:latin typeface="Calibri"/>
              </a:rPr>
              <a:t> of fuel economy (R² = 0.75)</a:t>
            </a:r>
          </a:p>
          <a:p>
            <a:pPr>
              <a:spcAft>
                <a:spcPts val="600"/>
              </a:spcAft>
            </a:pPr>
            <a:r>
              <a:rPr sz="1600" b="0">
                <a:solidFill>
                  <a:srgbClr val="222222"/>
                </a:solidFill>
                <a:latin typeface="Calibri"/>
              </a:rPr>
              <a:t>• Slope p-value = 1.3 × 10⁻¹⁰ : highly significant</a:t>
            </a:r>
          </a:p>
          <a:p>
            <a:pPr>
              <a:spcAft>
                <a:spcPts val="600"/>
              </a:spcAft>
            </a:pPr>
            <a:r>
              <a:rPr sz="1600" b="0">
                <a:solidFill>
                  <a:srgbClr val="222222"/>
                </a:solidFill>
                <a:latin typeface="Calibri"/>
              </a:rPr>
              <a:t>• Prediction: a 3000 lb car → 37.3 − 5.3 × 3 ≈ </a:t>
            </a:r>
            <a:r>
              <a:rPr sz="1600" b="1">
                <a:solidFill>
                  <a:srgbClr val="222222"/>
                </a:solidFill>
                <a:latin typeface="Calibri"/>
              </a:rPr>
              <a:t>21 mpg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More Examples from Different Fields</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1 : Concept</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4</a:t>
            </a:r>
          </a:p>
        </p:txBody>
      </p:sp>
      <p:graphicFrame>
        <p:nvGraphicFramePr>
          <p:cNvPr id="7" name="Table 6"/>
          <p:cNvGraphicFramePr>
            <a:graphicFrameLocks noGrp="1"/>
          </p:cNvGraphicFramePr>
          <p:nvPr/>
        </p:nvGraphicFramePr>
        <p:xfrm>
          <a:off x="548640" y="1371600"/>
          <a:ext cx="11064240" cy="3840480"/>
        </p:xfrm>
        <a:graphic>
          <a:graphicData uri="http://schemas.openxmlformats.org/drawingml/2006/table">
            <a:tbl>
              <a:tblPr firstRow="1" bandRow="1">
                <a:tableStyleId>{5C22544A-7EE6-4342-B048-85BDC9FD1C3A}</a:tableStyleId>
              </a:tblPr>
              <a:tblGrid>
                <a:gridCol w="1554480"/>
                <a:gridCol w="2651760"/>
                <a:gridCol w="2468880"/>
                <a:gridCol w="4389120"/>
              </a:tblGrid>
              <a:tr h="548640">
                <a:tc>
                  <a:txBody>
                    <a:bodyPr/>
                    <a:lstStyle/>
                    <a:p>
                      <a:r>
                        <a:rPr sz="1400" b="1">
                          <a:solidFill>
                            <a:srgbClr val="FFFFFF"/>
                          </a:solidFill>
                          <a:latin typeface="Calibri"/>
                        </a:rPr>
                        <a:t>Field</a:t>
                      </a:r>
                    </a:p>
                  </a:txBody>
                  <a:tcPr marT="36576" marB="36576">
                    <a:solidFill>
                      <a:srgbClr val="2E5A88"/>
                    </a:solidFill>
                  </a:tcPr>
                </a:tc>
                <a:tc>
                  <a:txBody>
                    <a:bodyPr/>
                    <a:lstStyle/>
                    <a:p>
                      <a:r>
                        <a:rPr sz="1400" b="1">
                          <a:solidFill>
                            <a:srgbClr val="FFFFFF"/>
                          </a:solidFill>
                          <a:latin typeface="Calibri"/>
                        </a:rPr>
                        <a:t>Outcome  (y)</a:t>
                      </a:r>
                    </a:p>
                  </a:txBody>
                  <a:tcPr marT="36576" marB="36576">
                    <a:solidFill>
                      <a:srgbClr val="2E5A88"/>
                    </a:solidFill>
                  </a:tcPr>
                </a:tc>
                <a:tc>
                  <a:txBody>
                    <a:bodyPr/>
                    <a:lstStyle/>
                    <a:p>
                      <a:r>
                        <a:rPr sz="1400" b="1">
                          <a:solidFill>
                            <a:srgbClr val="FFFFFF"/>
                          </a:solidFill>
                          <a:latin typeface="Calibri"/>
                        </a:rPr>
                        <a:t>Predictor  (x)</a:t>
                      </a:r>
                    </a:p>
                  </a:txBody>
                  <a:tcPr marT="36576" marB="36576">
                    <a:solidFill>
                      <a:srgbClr val="2E5A88"/>
                    </a:solidFill>
                  </a:tcPr>
                </a:tc>
                <a:tc>
                  <a:txBody>
                    <a:bodyPr/>
                    <a:lstStyle/>
                    <a:p>
                      <a:r>
                        <a:rPr sz="1400" b="1">
                          <a:solidFill>
                            <a:srgbClr val="FFFFFF"/>
                          </a:solidFill>
                          <a:latin typeface="Calibri"/>
                        </a:rPr>
                        <a:t>What the slope means</a:t>
                      </a:r>
                    </a:p>
                  </a:txBody>
                  <a:tcPr marT="36576" marB="36576">
                    <a:solidFill>
                      <a:srgbClr val="2E5A88"/>
                    </a:solidFill>
                  </a:tcPr>
                </a:tc>
              </a:tr>
              <a:tr h="548640">
                <a:tc>
                  <a:txBody>
                    <a:bodyPr/>
                    <a:lstStyle/>
                    <a:p>
                      <a:r>
                        <a:rPr sz="1400" b="0">
                          <a:solidFill>
                            <a:srgbClr val="222222"/>
                          </a:solidFill>
                          <a:latin typeface="Calibri"/>
                        </a:rPr>
                        <a:t>Economics</a:t>
                      </a:r>
                    </a:p>
                  </a:txBody>
                  <a:tcPr marT="36576" marB="36576">
                    <a:solidFill>
                      <a:srgbClr val="FFFFFF"/>
                    </a:solidFill>
                  </a:tcPr>
                </a:tc>
                <a:tc>
                  <a:txBody>
                    <a:bodyPr/>
                    <a:lstStyle/>
                    <a:p>
                      <a:r>
                        <a:rPr sz="1400" b="0">
                          <a:solidFill>
                            <a:srgbClr val="222222"/>
                          </a:solidFill>
                          <a:latin typeface="Calibri"/>
                        </a:rPr>
                        <a:t>Household spending</a:t>
                      </a:r>
                    </a:p>
                  </a:txBody>
                  <a:tcPr marT="36576" marB="36576">
                    <a:solidFill>
                      <a:srgbClr val="FFFFFF"/>
                    </a:solidFill>
                  </a:tcPr>
                </a:tc>
                <a:tc>
                  <a:txBody>
                    <a:bodyPr/>
                    <a:lstStyle/>
                    <a:p>
                      <a:r>
                        <a:rPr sz="1400" b="0">
                          <a:solidFill>
                            <a:srgbClr val="222222"/>
                          </a:solidFill>
                          <a:latin typeface="Calibri"/>
                        </a:rPr>
                        <a:t>Household income</a:t>
                      </a:r>
                    </a:p>
                  </a:txBody>
                  <a:tcPr marT="36576" marB="36576">
                    <a:solidFill>
                      <a:srgbClr val="FFFFFF"/>
                    </a:solidFill>
                  </a:tcPr>
                </a:tc>
                <a:tc>
                  <a:txBody>
                    <a:bodyPr/>
                    <a:lstStyle/>
                    <a:p>
                      <a:r>
                        <a:rPr sz="1400" b="0">
                          <a:solidFill>
                            <a:srgbClr val="222222"/>
                          </a:solidFill>
                          <a:latin typeface="Calibri"/>
                        </a:rPr>
                        <a:t>Marginal propensity to consume, about 0.7 to 0.9</a:t>
                      </a:r>
                    </a:p>
                  </a:txBody>
                  <a:tcPr marT="36576" marB="36576">
                    <a:solidFill>
                      <a:srgbClr val="FFFFFF"/>
                    </a:solidFill>
                  </a:tcPr>
                </a:tc>
              </a:tr>
              <a:tr h="548640">
                <a:tc>
                  <a:txBody>
                    <a:bodyPr/>
                    <a:lstStyle/>
                    <a:p>
                      <a:r>
                        <a:rPr sz="1400" b="0">
                          <a:solidFill>
                            <a:srgbClr val="222222"/>
                          </a:solidFill>
                          <a:latin typeface="Calibri"/>
                        </a:rPr>
                        <a:t>Health</a:t>
                      </a:r>
                    </a:p>
                  </a:txBody>
                  <a:tcPr marT="36576" marB="36576">
                    <a:solidFill>
                      <a:srgbClr val="F2F5F9"/>
                    </a:solidFill>
                  </a:tcPr>
                </a:tc>
                <a:tc>
                  <a:txBody>
                    <a:bodyPr/>
                    <a:lstStyle/>
                    <a:p>
                      <a:r>
                        <a:rPr sz="1400" b="0">
                          <a:solidFill>
                            <a:srgbClr val="222222"/>
                          </a:solidFill>
                          <a:latin typeface="Calibri"/>
                        </a:rPr>
                        <a:t>Systolic blood pressure</a:t>
                      </a:r>
                    </a:p>
                  </a:txBody>
                  <a:tcPr marT="36576" marB="36576">
                    <a:solidFill>
                      <a:srgbClr val="F2F5F9"/>
                    </a:solidFill>
                  </a:tcPr>
                </a:tc>
                <a:tc>
                  <a:txBody>
                    <a:bodyPr/>
                    <a:lstStyle/>
                    <a:p>
                      <a:r>
                        <a:rPr sz="1400" b="0">
                          <a:solidFill>
                            <a:srgbClr val="222222"/>
                          </a:solidFill>
                          <a:latin typeface="Calibri"/>
                        </a:rPr>
                        <a:t>Age</a:t>
                      </a:r>
                    </a:p>
                  </a:txBody>
                  <a:tcPr marT="36576" marB="36576">
                    <a:solidFill>
                      <a:srgbClr val="F2F5F9"/>
                    </a:solidFill>
                  </a:tcPr>
                </a:tc>
                <a:tc>
                  <a:txBody>
                    <a:bodyPr/>
                    <a:lstStyle/>
                    <a:p>
                      <a:r>
                        <a:rPr sz="1400" b="0">
                          <a:solidFill>
                            <a:srgbClr val="222222"/>
                          </a:solidFill>
                          <a:latin typeface="Calibri"/>
                        </a:rPr>
                        <a:t>About 0.5 to 1 mmHg increase per year of adult age</a:t>
                      </a:r>
                    </a:p>
                  </a:txBody>
                  <a:tcPr marT="36576" marB="36576">
                    <a:solidFill>
                      <a:srgbClr val="F2F5F9"/>
                    </a:solidFill>
                  </a:tcPr>
                </a:tc>
              </a:tr>
              <a:tr h="548640">
                <a:tc>
                  <a:txBody>
                    <a:bodyPr/>
                    <a:lstStyle/>
                    <a:p>
                      <a:r>
                        <a:rPr sz="1400" b="0">
                          <a:solidFill>
                            <a:srgbClr val="222222"/>
                          </a:solidFill>
                          <a:latin typeface="Calibri"/>
                        </a:rPr>
                        <a:t>Education</a:t>
                      </a:r>
                    </a:p>
                  </a:txBody>
                  <a:tcPr marT="36576" marB="36576">
                    <a:solidFill>
                      <a:srgbClr val="FFFFFF"/>
                    </a:solidFill>
                  </a:tcPr>
                </a:tc>
                <a:tc>
                  <a:txBody>
                    <a:bodyPr/>
                    <a:lstStyle/>
                    <a:p>
                      <a:r>
                        <a:rPr sz="1400" b="0">
                          <a:solidFill>
                            <a:srgbClr val="222222"/>
                          </a:solidFill>
                          <a:latin typeface="Calibri"/>
                        </a:rPr>
                        <a:t>Final exam score</a:t>
                      </a:r>
                    </a:p>
                  </a:txBody>
                  <a:tcPr marT="36576" marB="36576">
                    <a:solidFill>
                      <a:srgbClr val="FFFFFF"/>
                    </a:solidFill>
                  </a:tcPr>
                </a:tc>
                <a:tc>
                  <a:txBody>
                    <a:bodyPr/>
                    <a:lstStyle/>
                    <a:p>
                      <a:r>
                        <a:rPr sz="1400" b="0">
                          <a:solidFill>
                            <a:srgbClr val="222222"/>
                          </a:solidFill>
                          <a:latin typeface="Calibri"/>
                        </a:rPr>
                        <a:t>Hours studied</a:t>
                      </a:r>
                    </a:p>
                  </a:txBody>
                  <a:tcPr marT="36576" marB="36576">
                    <a:solidFill>
                      <a:srgbClr val="FFFFFF"/>
                    </a:solidFill>
                  </a:tcPr>
                </a:tc>
                <a:tc>
                  <a:txBody>
                    <a:bodyPr/>
                    <a:lstStyle/>
                    <a:p>
                      <a:r>
                        <a:rPr sz="1400" b="0">
                          <a:solidFill>
                            <a:srgbClr val="222222"/>
                          </a:solidFill>
                          <a:latin typeface="Calibri"/>
                        </a:rPr>
                        <a:t>Extra marks per hour of study</a:t>
                      </a:r>
                    </a:p>
                  </a:txBody>
                  <a:tcPr marT="36576" marB="36576">
                    <a:solidFill>
                      <a:srgbClr val="FFFFFF"/>
                    </a:solidFill>
                  </a:tcPr>
                </a:tc>
              </a:tr>
              <a:tr h="548640">
                <a:tc>
                  <a:txBody>
                    <a:bodyPr/>
                    <a:lstStyle/>
                    <a:p>
                      <a:r>
                        <a:rPr sz="1400" b="0">
                          <a:solidFill>
                            <a:srgbClr val="222222"/>
                          </a:solidFill>
                          <a:latin typeface="Calibri"/>
                        </a:rPr>
                        <a:t>Real estate</a:t>
                      </a:r>
                    </a:p>
                  </a:txBody>
                  <a:tcPr marT="36576" marB="36576">
                    <a:solidFill>
                      <a:srgbClr val="F2F5F9"/>
                    </a:solidFill>
                  </a:tcPr>
                </a:tc>
                <a:tc>
                  <a:txBody>
                    <a:bodyPr/>
                    <a:lstStyle/>
                    <a:p>
                      <a:r>
                        <a:rPr sz="1400" b="0">
                          <a:solidFill>
                            <a:srgbClr val="222222"/>
                          </a:solidFill>
                          <a:latin typeface="Calibri"/>
                        </a:rPr>
                        <a:t>House price</a:t>
                      </a:r>
                    </a:p>
                  </a:txBody>
                  <a:tcPr marT="36576" marB="36576">
                    <a:solidFill>
                      <a:srgbClr val="F2F5F9"/>
                    </a:solidFill>
                  </a:tcPr>
                </a:tc>
                <a:tc>
                  <a:txBody>
                    <a:bodyPr/>
                    <a:lstStyle/>
                    <a:p>
                      <a:r>
                        <a:rPr sz="1400" b="0">
                          <a:solidFill>
                            <a:srgbClr val="222222"/>
                          </a:solidFill>
                          <a:latin typeface="Calibri"/>
                        </a:rPr>
                        <a:t>Floor area (sq ft)</a:t>
                      </a:r>
                    </a:p>
                  </a:txBody>
                  <a:tcPr marT="36576" marB="36576">
                    <a:solidFill>
                      <a:srgbClr val="F2F5F9"/>
                    </a:solidFill>
                  </a:tcPr>
                </a:tc>
                <a:tc>
                  <a:txBody>
                    <a:bodyPr/>
                    <a:lstStyle/>
                    <a:p>
                      <a:r>
                        <a:rPr sz="1400" b="0">
                          <a:solidFill>
                            <a:srgbClr val="222222"/>
                          </a:solidFill>
                          <a:latin typeface="Calibri"/>
                        </a:rPr>
                        <a:t>Price per square foot</a:t>
                      </a:r>
                    </a:p>
                  </a:txBody>
                  <a:tcPr marT="36576" marB="36576">
                    <a:solidFill>
                      <a:srgbClr val="F2F5F9"/>
                    </a:solidFill>
                  </a:tcPr>
                </a:tc>
              </a:tr>
              <a:tr h="548640">
                <a:tc>
                  <a:txBody>
                    <a:bodyPr/>
                    <a:lstStyle/>
                    <a:p>
                      <a:r>
                        <a:rPr sz="1400" b="0">
                          <a:solidFill>
                            <a:srgbClr val="222222"/>
                          </a:solidFill>
                          <a:latin typeface="Calibri"/>
                        </a:rPr>
                        <a:t>Agriculture</a:t>
                      </a:r>
                    </a:p>
                  </a:txBody>
                  <a:tcPr marT="36576" marB="36576">
                    <a:solidFill>
                      <a:srgbClr val="FFFFFF"/>
                    </a:solidFill>
                  </a:tcPr>
                </a:tc>
                <a:tc>
                  <a:txBody>
                    <a:bodyPr/>
                    <a:lstStyle/>
                    <a:p>
                      <a:r>
                        <a:rPr sz="1400" b="0">
                          <a:solidFill>
                            <a:srgbClr val="222222"/>
                          </a:solidFill>
                          <a:latin typeface="Calibri"/>
                        </a:rPr>
                        <a:t>Crop yield</a:t>
                      </a:r>
                    </a:p>
                  </a:txBody>
                  <a:tcPr marT="36576" marB="36576">
                    <a:solidFill>
                      <a:srgbClr val="FFFFFF"/>
                    </a:solidFill>
                  </a:tcPr>
                </a:tc>
                <a:tc>
                  <a:txBody>
                    <a:bodyPr/>
                    <a:lstStyle/>
                    <a:p>
                      <a:r>
                        <a:rPr sz="1400" b="0">
                          <a:solidFill>
                            <a:srgbClr val="222222"/>
                          </a:solidFill>
                          <a:latin typeface="Calibri"/>
                        </a:rPr>
                        <a:t>Fertilizer (kg / ha)</a:t>
                      </a:r>
                    </a:p>
                  </a:txBody>
                  <a:tcPr marT="36576" marB="36576">
                    <a:solidFill>
                      <a:srgbClr val="FFFFFF"/>
                    </a:solidFill>
                  </a:tcPr>
                </a:tc>
                <a:tc>
                  <a:txBody>
                    <a:bodyPr/>
                    <a:lstStyle/>
                    <a:p>
                      <a:r>
                        <a:rPr sz="1400" b="0">
                          <a:solidFill>
                            <a:srgbClr val="222222"/>
                          </a:solidFill>
                          <a:latin typeface="Calibri"/>
                        </a:rPr>
                        <a:t>Extra bushels per kilogram of fertilizer</a:t>
                      </a:r>
                    </a:p>
                  </a:txBody>
                  <a:tcPr marT="36576" marB="36576">
                    <a:solidFill>
                      <a:srgbClr val="FFFFFF"/>
                    </a:solidFill>
                  </a:tcPr>
                </a:tc>
              </a:tr>
              <a:tr h="548640">
                <a:tc>
                  <a:txBody>
                    <a:bodyPr/>
                    <a:lstStyle/>
                    <a:p>
                      <a:r>
                        <a:rPr sz="1400" b="0">
                          <a:solidFill>
                            <a:srgbClr val="222222"/>
                          </a:solidFill>
                          <a:latin typeface="Calibri"/>
                        </a:rPr>
                        <a:t>Marketing</a:t>
                      </a:r>
                    </a:p>
                  </a:txBody>
                  <a:tcPr marT="36576" marB="36576">
                    <a:solidFill>
                      <a:srgbClr val="F2F5F9"/>
                    </a:solidFill>
                  </a:tcPr>
                </a:tc>
                <a:tc>
                  <a:txBody>
                    <a:bodyPr/>
                    <a:lstStyle/>
                    <a:p>
                      <a:r>
                        <a:rPr sz="1400" b="0">
                          <a:solidFill>
                            <a:srgbClr val="222222"/>
                          </a:solidFill>
                          <a:latin typeface="Calibri"/>
                        </a:rPr>
                        <a:t>Monthly sales</a:t>
                      </a:r>
                    </a:p>
                  </a:txBody>
                  <a:tcPr marT="36576" marB="36576">
                    <a:solidFill>
                      <a:srgbClr val="F2F5F9"/>
                    </a:solidFill>
                  </a:tcPr>
                </a:tc>
                <a:tc>
                  <a:txBody>
                    <a:bodyPr/>
                    <a:lstStyle/>
                    <a:p>
                      <a:r>
                        <a:rPr sz="1400" b="0">
                          <a:solidFill>
                            <a:srgbClr val="222222"/>
                          </a:solidFill>
                          <a:latin typeface="Calibri"/>
                        </a:rPr>
                        <a:t>Advertising spend</a:t>
                      </a:r>
                    </a:p>
                  </a:txBody>
                  <a:tcPr marT="36576" marB="36576">
                    <a:solidFill>
                      <a:srgbClr val="F2F5F9"/>
                    </a:solidFill>
                  </a:tcPr>
                </a:tc>
                <a:tc>
                  <a:txBody>
                    <a:bodyPr/>
                    <a:lstStyle/>
                    <a:p>
                      <a:r>
                        <a:rPr sz="1400" b="0">
                          <a:solidFill>
                            <a:srgbClr val="222222"/>
                          </a:solidFill>
                          <a:latin typeface="Calibri"/>
                        </a:rPr>
                        <a:t>Sales generated per rupee of advertising</a:t>
                      </a:r>
                    </a:p>
                  </a:txBody>
                  <a:tcPr marT="36576" marB="36576">
                    <a:solidFill>
                      <a:srgbClr val="F2F5F9"/>
                    </a:solidFill>
                  </a:tcPr>
                </a:tc>
              </a:tr>
            </a:tbl>
          </a:graphicData>
        </a:graphic>
      </p:graphicFrame>
      <p:sp>
        <p:nvSpPr>
          <p:cNvPr id="8" name="TextBox 7"/>
          <p:cNvSpPr txBox="1"/>
          <p:nvPr/>
        </p:nvSpPr>
        <p:spPr>
          <a:xfrm>
            <a:off x="548640" y="5486400"/>
            <a:ext cx="10972800" cy="731520"/>
          </a:xfrm>
          <a:prstGeom prst="rect">
            <a:avLst/>
          </a:prstGeom>
          <a:noFill/>
        </p:spPr>
        <p:txBody>
          <a:bodyPr wrap="square" anchor="t">
            <a:spAutoFit/>
          </a:bodyPr>
          <a:lstStyle/>
          <a:p>
            <a:pPr algn="ctr"/>
            <a:r>
              <a:rPr sz="1800" b="1">
                <a:solidFill>
                  <a:srgbClr val="2E5A88"/>
                </a:solidFill>
                <a:latin typeface="Calibri"/>
              </a:rPr>
              <a:t>Same equation every time  —  only the meaning and units of the slope change.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Types of Linear Regression : Overview</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2 : Types</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5</a:t>
            </a:r>
          </a:p>
        </p:txBody>
      </p:sp>
      <p:sp>
        <p:nvSpPr>
          <p:cNvPr id="7" name="Rounded Rectangle 6"/>
          <p:cNvSpPr/>
          <p:nvPr/>
        </p:nvSpPr>
        <p:spPr>
          <a:xfrm>
            <a:off x="548640" y="1463040"/>
            <a:ext cx="2651760" cy="3566160"/>
          </a:xfrm>
          <a:prstGeom prst="roundRect">
            <a:avLst/>
          </a:prstGeom>
          <a:solidFill>
            <a:srgbClr val="F2F5F9"/>
          </a:solidFill>
          <a:ln>
            <a:solidFill>
              <a:srgbClr val="2E5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463040"/>
            <a:ext cx="2651760" cy="731520"/>
          </a:xfrm>
          <a:prstGeom prst="roundRect">
            <a:avLst/>
          </a:prstGeom>
          <a:solidFill>
            <a:srgbClr val="2E5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651760" cy="731520"/>
          </a:xfrm>
          <a:prstGeom prst="rect">
            <a:avLst/>
          </a:prstGeom>
          <a:noFill/>
        </p:spPr>
        <p:txBody>
          <a:bodyPr wrap="square" anchor="ctr">
            <a:spAutoFit/>
          </a:bodyPr>
          <a:lstStyle/>
          <a:p>
            <a:pPr algn="ctr"/>
            <a:r>
              <a:rPr sz="2000" b="1">
                <a:solidFill>
                  <a:srgbClr val="FFFFFF"/>
                </a:solidFill>
                <a:latin typeface="Calibri"/>
              </a:rPr>
              <a:t>Simple</a:t>
            </a:r>
          </a:p>
        </p:txBody>
      </p:sp>
      <p:sp>
        <p:nvSpPr>
          <p:cNvPr id="10" name="TextBox 9"/>
          <p:cNvSpPr txBox="1"/>
          <p:nvPr/>
        </p:nvSpPr>
        <p:spPr>
          <a:xfrm>
            <a:off x="685800" y="2377440"/>
            <a:ext cx="2377440" cy="1371600"/>
          </a:xfrm>
          <a:prstGeom prst="rect">
            <a:avLst/>
          </a:prstGeom>
          <a:noFill/>
        </p:spPr>
        <p:txBody>
          <a:bodyPr wrap="square" anchor="t">
            <a:spAutoFit/>
          </a:bodyPr>
          <a:lstStyle/>
          <a:p>
            <a:pPr algn="ctr"/>
            <a:r>
              <a:rPr sz="1500" b="0">
                <a:solidFill>
                  <a:srgbClr val="222222"/>
                </a:solidFill>
                <a:latin typeface="Calibri"/>
              </a:rPr>
              <a:t>One predictor</a:t>
            </a:r>
          </a:p>
          <a:p>
            <a:pPr algn="ctr"/>
            <a:r>
              <a:rPr sz="1500" b="0">
                <a:solidFill>
                  <a:srgbClr val="222222"/>
                </a:solidFill>
                <a:latin typeface="Calibri"/>
              </a:rPr>
              <a:t>Straight line</a:t>
            </a:r>
          </a:p>
        </p:txBody>
      </p:sp>
      <p:sp>
        <p:nvSpPr>
          <p:cNvPr id="11" name="TextBox 10"/>
          <p:cNvSpPr txBox="1"/>
          <p:nvPr/>
        </p:nvSpPr>
        <p:spPr>
          <a:xfrm>
            <a:off x="685800" y="3840480"/>
            <a:ext cx="2377440" cy="1005840"/>
          </a:xfrm>
          <a:prstGeom prst="rect">
            <a:avLst/>
          </a:prstGeom>
          <a:noFill/>
        </p:spPr>
        <p:txBody>
          <a:bodyPr wrap="square" anchor="t">
            <a:spAutoFit/>
          </a:bodyPr>
          <a:lstStyle/>
          <a:p>
            <a:pPr algn="ctr"/>
            <a:r>
              <a:rPr sz="1400" b="0">
                <a:solidFill>
                  <a:srgbClr val="1F3A5F"/>
                </a:solidFill>
                <a:latin typeface="Consolas"/>
              </a:rPr>
              <a:t>y = b₀ + b₁x</a:t>
            </a:r>
          </a:p>
        </p:txBody>
      </p:sp>
      <p:sp>
        <p:nvSpPr>
          <p:cNvPr id="12" name="Rounded Rectangle 11"/>
          <p:cNvSpPr/>
          <p:nvPr/>
        </p:nvSpPr>
        <p:spPr>
          <a:xfrm>
            <a:off x="3383280" y="1463040"/>
            <a:ext cx="2651760" cy="3566160"/>
          </a:xfrm>
          <a:prstGeom prst="roundRect">
            <a:avLst/>
          </a:prstGeom>
          <a:solidFill>
            <a:srgbClr val="F2F5F9"/>
          </a:solidFill>
          <a:ln>
            <a:solidFill>
              <a:srgbClr val="2E5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463040"/>
            <a:ext cx="2651760" cy="731520"/>
          </a:xfrm>
          <a:prstGeom prst="roundRect">
            <a:avLst/>
          </a:prstGeom>
          <a:solidFill>
            <a:srgbClr val="2E5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463040"/>
            <a:ext cx="2651760" cy="731520"/>
          </a:xfrm>
          <a:prstGeom prst="rect">
            <a:avLst/>
          </a:prstGeom>
          <a:noFill/>
        </p:spPr>
        <p:txBody>
          <a:bodyPr wrap="square" anchor="ctr">
            <a:spAutoFit/>
          </a:bodyPr>
          <a:lstStyle/>
          <a:p>
            <a:pPr algn="ctr"/>
            <a:r>
              <a:rPr sz="2000" b="1">
                <a:solidFill>
                  <a:srgbClr val="FFFFFF"/>
                </a:solidFill>
                <a:latin typeface="Calibri"/>
              </a:rPr>
              <a:t>Multiple</a:t>
            </a:r>
          </a:p>
        </p:txBody>
      </p:sp>
      <p:sp>
        <p:nvSpPr>
          <p:cNvPr id="15" name="TextBox 14"/>
          <p:cNvSpPr txBox="1"/>
          <p:nvPr/>
        </p:nvSpPr>
        <p:spPr>
          <a:xfrm>
            <a:off x="3520440" y="2377440"/>
            <a:ext cx="2377440" cy="1371600"/>
          </a:xfrm>
          <a:prstGeom prst="rect">
            <a:avLst/>
          </a:prstGeom>
          <a:noFill/>
        </p:spPr>
        <p:txBody>
          <a:bodyPr wrap="square" anchor="t">
            <a:spAutoFit/>
          </a:bodyPr>
          <a:lstStyle/>
          <a:p>
            <a:pPr algn="ctr"/>
            <a:r>
              <a:rPr sz="1500" b="0">
                <a:solidFill>
                  <a:srgbClr val="222222"/>
                </a:solidFill>
                <a:latin typeface="Calibri"/>
              </a:rPr>
              <a:t>Two or more predictors</a:t>
            </a:r>
          </a:p>
          <a:p>
            <a:pPr algn="ctr"/>
            <a:r>
              <a:rPr sz="1500" b="0">
                <a:solidFill>
                  <a:srgbClr val="222222"/>
                </a:solidFill>
                <a:latin typeface="Calibri"/>
              </a:rPr>
              <a:t>Flat plane</a:t>
            </a:r>
          </a:p>
        </p:txBody>
      </p:sp>
      <p:sp>
        <p:nvSpPr>
          <p:cNvPr id="16" name="TextBox 15"/>
          <p:cNvSpPr txBox="1"/>
          <p:nvPr/>
        </p:nvSpPr>
        <p:spPr>
          <a:xfrm>
            <a:off x="3520440" y="3840480"/>
            <a:ext cx="2377440" cy="1005840"/>
          </a:xfrm>
          <a:prstGeom prst="rect">
            <a:avLst/>
          </a:prstGeom>
          <a:noFill/>
        </p:spPr>
        <p:txBody>
          <a:bodyPr wrap="square" anchor="t">
            <a:spAutoFit/>
          </a:bodyPr>
          <a:lstStyle/>
          <a:p>
            <a:pPr algn="ctr"/>
            <a:r>
              <a:rPr sz="1400" b="0">
                <a:solidFill>
                  <a:srgbClr val="1F3A5F"/>
                </a:solidFill>
                <a:latin typeface="Consolas"/>
              </a:rPr>
              <a:t>y = b₀ + b₁x₁ + b₂x₂ + …</a:t>
            </a:r>
          </a:p>
        </p:txBody>
      </p:sp>
      <p:sp>
        <p:nvSpPr>
          <p:cNvPr id="17" name="Rounded Rectangle 16"/>
          <p:cNvSpPr/>
          <p:nvPr/>
        </p:nvSpPr>
        <p:spPr>
          <a:xfrm>
            <a:off x="6217920" y="1463040"/>
            <a:ext cx="2651760" cy="3566160"/>
          </a:xfrm>
          <a:prstGeom prst="roundRect">
            <a:avLst/>
          </a:prstGeom>
          <a:solidFill>
            <a:srgbClr val="F2F5F9"/>
          </a:solidFill>
          <a:ln>
            <a:solidFill>
              <a:srgbClr val="2E5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463040"/>
            <a:ext cx="2651760" cy="731520"/>
          </a:xfrm>
          <a:prstGeom prst="roundRect">
            <a:avLst/>
          </a:prstGeom>
          <a:solidFill>
            <a:srgbClr val="2E5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463040"/>
            <a:ext cx="2651760" cy="731520"/>
          </a:xfrm>
          <a:prstGeom prst="rect">
            <a:avLst/>
          </a:prstGeom>
          <a:noFill/>
        </p:spPr>
        <p:txBody>
          <a:bodyPr wrap="square" anchor="ctr">
            <a:spAutoFit/>
          </a:bodyPr>
          <a:lstStyle/>
          <a:p>
            <a:pPr algn="ctr"/>
            <a:r>
              <a:rPr sz="2000" b="1">
                <a:solidFill>
                  <a:srgbClr val="FFFFFF"/>
                </a:solidFill>
                <a:latin typeface="Calibri"/>
              </a:rPr>
              <a:t>Polynomial</a:t>
            </a:r>
          </a:p>
        </p:txBody>
      </p:sp>
      <p:sp>
        <p:nvSpPr>
          <p:cNvPr id="20" name="TextBox 19"/>
          <p:cNvSpPr txBox="1"/>
          <p:nvPr/>
        </p:nvSpPr>
        <p:spPr>
          <a:xfrm>
            <a:off x="6355080" y="2377440"/>
            <a:ext cx="2377440" cy="1371600"/>
          </a:xfrm>
          <a:prstGeom prst="rect">
            <a:avLst/>
          </a:prstGeom>
          <a:noFill/>
        </p:spPr>
        <p:txBody>
          <a:bodyPr wrap="square" anchor="t">
            <a:spAutoFit/>
          </a:bodyPr>
          <a:lstStyle/>
          <a:p>
            <a:pPr algn="ctr"/>
            <a:r>
              <a:rPr sz="1500" b="0">
                <a:solidFill>
                  <a:srgbClr val="222222"/>
                </a:solidFill>
                <a:latin typeface="Calibri"/>
              </a:rPr>
              <a:t>Powers of a predictor</a:t>
            </a:r>
          </a:p>
          <a:p>
            <a:pPr algn="ctr"/>
            <a:r>
              <a:rPr sz="1500" b="0">
                <a:solidFill>
                  <a:srgbClr val="222222"/>
                </a:solidFill>
                <a:latin typeface="Calibri"/>
              </a:rPr>
              <a:t>Curve</a:t>
            </a:r>
          </a:p>
        </p:txBody>
      </p:sp>
      <p:sp>
        <p:nvSpPr>
          <p:cNvPr id="21" name="TextBox 20"/>
          <p:cNvSpPr txBox="1"/>
          <p:nvPr/>
        </p:nvSpPr>
        <p:spPr>
          <a:xfrm>
            <a:off x="6355080" y="3840480"/>
            <a:ext cx="2377440" cy="1005840"/>
          </a:xfrm>
          <a:prstGeom prst="rect">
            <a:avLst/>
          </a:prstGeom>
          <a:noFill/>
        </p:spPr>
        <p:txBody>
          <a:bodyPr wrap="square" anchor="t">
            <a:spAutoFit/>
          </a:bodyPr>
          <a:lstStyle/>
          <a:p>
            <a:pPr algn="ctr"/>
            <a:r>
              <a:rPr sz="1400" b="0">
                <a:solidFill>
                  <a:srgbClr val="1F3A5F"/>
                </a:solidFill>
                <a:latin typeface="Consolas"/>
              </a:rPr>
              <a:t>y = b₀ + b₁x + b₂x²</a:t>
            </a:r>
          </a:p>
        </p:txBody>
      </p:sp>
      <p:sp>
        <p:nvSpPr>
          <p:cNvPr id="22" name="Rounded Rectangle 21"/>
          <p:cNvSpPr/>
          <p:nvPr/>
        </p:nvSpPr>
        <p:spPr>
          <a:xfrm>
            <a:off x="9052560" y="1463040"/>
            <a:ext cx="2651760" cy="3566160"/>
          </a:xfrm>
          <a:prstGeom prst="roundRect">
            <a:avLst/>
          </a:prstGeom>
          <a:solidFill>
            <a:srgbClr val="F2F5F9"/>
          </a:solidFill>
          <a:ln>
            <a:solidFill>
              <a:srgbClr val="2E5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52560" y="1463040"/>
            <a:ext cx="2651760" cy="731520"/>
          </a:xfrm>
          <a:prstGeom prst="roundRect">
            <a:avLst/>
          </a:prstGeom>
          <a:solidFill>
            <a:srgbClr val="2E5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1463040"/>
            <a:ext cx="2651760" cy="731520"/>
          </a:xfrm>
          <a:prstGeom prst="rect">
            <a:avLst/>
          </a:prstGeom>
          <a:noFill/>
        </p:spPr>
        <p:txBody>
          <a:bodyPr wrap="square" anchor="ctr">
            <a:spAutoFit/>
          </a:bodyPr>
          <a:lstStyle/>
          <a:p>
            <a:pPr algn="ctr"/>
            <a:r>
              <a:rPr sz="2000" b="1">
                <a:solidFill>
                  <a:srgbClr val="FFFFFF"/>
                </a:solidFill>
                <a:latin typeface="Calibri"/>
              </a:rPr>
              <a:t>Regularised</a:t>
            </a:r>
          </a:p>
        </p:txBody>
      </p:sp>
      <p:sp>
        <p:nvSpPr>
          <p:cNvPr id="25" name="TextBox 24"/>
          <p:cNvSpPr txBox="1"/>
          <p:nvPr/>
        </p:nvSpPr>
        <p:spPr>
          <a:xfrm>
            <a:off x="9189720" y="2377440"/>
            <a:ext cx="2377440" cy="1371600"/>
          </a:xfrm>
          <a:prstGeom prst="rect">
            <a:avLst/>
          </a:prstGeom>
          <a:noFill/>
        </p:spPr>
        <p:txBody>
          <a:bodyPr wrap="square" anchor="t">
            <a:spAutoFit/>
          </a:bodyPr>
          <a:lstStyle/>
          <a:p>
            <a:pPr algn="ctr"/>
            <a:r>
              <a:rPr sz="1500" b="0">
                <a:solidFill>
                  <a:srgbClr val="222222"/>
                </a:solidFill>
                <a:latin typeface="Calibri"/>
              </a:rPr>
              <a:t>Ridge / Lasso</a:t>
            </a:r>
          </a:p>
          <a:p>
            <a:pPr algn="ctr"/>
            <a:r>
              <a:rPr sz="1500" b="0">
                <a:solidFill>
                  <a:srgbClr val="222222"/>
                </a:solidFill>
                <a:latin typeface="Calibri"/>
              </a:rPr>
              <a:t>Penalised coefficients</a:t>
            </a:r>
          </a:p>
        </p:txBody>
      </p:sp>
      <p:sp>
        <p:nvSpPr>
          <p:cNvPr id="26" name="TextBox 25"/>
          <p:cNvSpPr txBox="1"/>
          <p:nvPr/>
        </p:nvSpPr>
        <p:spPr>
          <a:xfrm>
            <a:off x="9189720" y="3840480"/>
            <a:ext cx="2377440" cy="1005840"/>
          </a:xfrm>
          <a:prstGeom prst="rect">
            <a:avLst/>
          </a:prstGeom>
          <a:noFill/>
        </p:spPr>
        <p:txBody>
          <a:bodyPr wrap="square" anchor="t">
            <a:spAutoFit/>
          </a:bodyPr>
          <a:lstStyle/>
          <a:p>
            <a:pPr algn="ctr"/>
            <a:r>
              <a:rPr sz="1400" b="0">
                <a:solidFill>
                  <a:srgbClr val="1F3A5F"/>
                </a:solidFill>
                <a:latin typeface="Consolas"/>
              </a:rPr>
              <a:t>least squares + λ × penalty</a:t>
            </a:r>
          </a:p>
        </p:txBody>
      </p:sp>
      <p:sp>
        <p:nvSpPr>
          <p:cNvPr id="27" name="TextBox 26"/>
          <p:cNvSpPr txBox="1"/>
          <p:nvPr/>
        </p:nvSpPr>
        <p:spPr>
          <a:xfrm>
            <a:off x="548640" y="5303520"/>
            <a:ext cx="10972800" cy="914400"/>
          </a:xfrm>
          <a:prstGeom prst="rect">
            <a:avLst/>
          </a:prstGeom>
          <a:noFill/>
        </p:spPr>
        <p:txBody>
          <a:bodyPr wrap="square" anchor="t">
            <a:spAutoFit/>
          </a:bodyPr>
          <a:lstStyle/>
          <a:p>
            <a:pPr algn="ctr"/>
            <a:r>
              <a:rPr sz="1500" b="0">
                <a:solidFill>
                  <a:srgbClr val="555555"/>
                </a:solidFill>
                <a:latin typeface="Calibri"/>
              </a:rPr>
              <a:t>All are “linear” because the outcome is a linear combination of the coefficients.</a:t>
            </a:r>
          </a:p>
          <a:p>
            <a:pPr algn="ctr"/>
            <a:r>
              <a:rPr sz="1500" b="0">
                <a:solidFill>
                  <a:srgbClr val="555555"/>
                </a:solidFill>
                <a:latin typeface="Calibri"/>
              </a:rPr>
              <a:t>Categorical predictors (e.g. manual vs automatic) enter any of them as 0 / 1 dummy variables.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Simple Linear Regression : Agriculture</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2 : Types</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6</a:t>
            </a:r>
          </a:p>
        </p:txBody>
      </p:sp>
      <p:sp>
        <p:nvSpPr>
          <p:cNvPr id="7" name="TextBox 6"/>
          <p:cNvSpPr txBox="1"/>
          <p:nvPr/>
        </p:nvSpPr>
        <p:spPr>
          <a:xfrm>
            <a:off x="548640" y="1280160"/>
            <a:ext cx="5760720" cy="4937760"/>
          </a:xfrm>
          <a:prstGeom prst="rect">
            <a:avLst/>
          </a:prstGeom>
          <a:noFill/>
        </p:spPr>
        <p:txBody>
          <a:bodyPr wrap="square">
            <a:spAutoFit/>
          </a:bodyPr>
          <a:lstStyle/>
          <a:p>
            <a:pPr>
              <a:spcAft>
                <a:spcPts val="600"/>
              </a:spcAft>
            </a:pPr>
            <a:r>
              <a:rPr sz="1700" b="1">
                <a:solidFill>
                  <a:srgbClr val="222222"/>
                </a:solidFill>
                <a:latin typeface="Calibri"/>
              </a:rPr>
              <a:t>• Data set</a:t>
            </a:r>
            <a:r>
              <a:rPr sz="1700" b="0">
                <a:solidFill>
                  <a:srgbClr val="222222"/>
                </a:solidFill>
                <a:latin typeface="Calibri"/>
              </a:rPr>
              <a:t>: crop yield (bushels / acre) vs fertilizer applied (kg / ha) on 30 field plots</a:t>
            </a:r>
          </a:p>
          <a:p>
            <a:pPr>
              <a:spcAft>
                <a:spcPts val="600"/>
              </a:spcAft>
            </a:pPr>
            <a:r>
              <a:rPr sz="1700" b="1">
                <a:solidFill>
                  <a:srgbClr val="222222"/>
                </a:solidFill>
                <a:latin typeface="Calibri"/>
              </a:rPr>
              <a:t>• Model</a:t>
            </a:r>
            <a:r>
              <a:rPr sz="1700" b="0">
                <a:solidFill>
                  <a:srgbClr val="222222"/>
                </a:solidFill>
                <a:latin typeface="Calibri"/>
              </a:rPr>
              <a:t>:  yield = b₀ + b₁ × fertilizer</a:t>
            </a:r>
          </a:p>
          <a:p>
            <a:pPr>
              <a:spcAft>
                <a:spcPts val="600"/>
              </a:spcAft>
            </a:pPr>
            <a:r>
              <a:rPr sz="1700" b="1">
                <a:solidFill>
                  <a:srgbClr val="222222"/>
                </a:solidFill>
                <a:latin typeface="Calibri"/>
              </a:rPr>
              <a:t>• Reading</a:t>
            </a:r>
            <a:r>
              <a:rPr sz="1700" b="0">
                <a:solidFill>
                  <a:srgbClr val="222222"/>
                </a:solidFill>
                <a:latin typeface="Calibri"/>
              </a:rPr>
              <a:t>: b₁ = extra bushels per extra kg of fertilizer</a:t>
            </a:r>
          </a:p>
          <a:p>
            <a:pPr>
              <a:spcAft>
                <a:spcPts val="600"/>
              </a:spcAft>
            </a:pPr>
            <a:r>
              <a:rPr sz="1700" b="1">
                <a:solidFill>
                  <a:srgbClr val="222222"/>
                </a:solidFill>
                <a:latin typeface="Calibri"/>
              </a:rPr>
              <a:t>• Strengths</a:t>
            </a:r>
          </a:p>
          <a:p>
            <a:pPr lvl="1">
              <a:spcAft>
                <a:spcPts val="600"/>
              </a:spcAft>
            </a:pPr>
            <a:r>
              <a:rPr sz="1500" b="0">
                <a:solidFill>
                  <a:srgbClr val="222222"/>
                </a:solidFill>
                <a:latin typeface="Calibri"/>
              </a:rPr>
              <a:t>– Easy to draw, easy to explain to non-statisticians</a:t>
            </a:r>
          </a:p>
          <a:p>
            <a:pPr lvl="1">
              <a:spcAft>
                <a:spcPts val="600"/>
              </a:spcAft>
            </a:pPr>
            <a:r>
              <a:rPr sz="1500" b="0">
                <a:solidFill>
                  <a:srgbClr val="222222"/>
                </a:solidFill>
                <a:latin typeface="Calibri"/>
              </a:rPr>
              <a:t>– Only two numbers to interpret</a:t>
            </a:r>
          </a:p>
          <a:p>
            <a:pPr>
              <a:spcAft>
                <a:spcPts val="600"/>
              </a:spcAft>
            </a:pPr>
            <a:r>
              <a:rPr sz="1700" b="1">
                <a:solidFill>
                  <a:srgbClr val="222222"/>
                </a:solidFill>
                <a:latin typeface="Calibri"/>
              </a:rPr>
              <a:t>• Weaknesses</a:t>
            </a:r>
          </a:p>
          <a:p>
            <a:pPr lvl="1">
              <a:spcAft>
                <a:spcPts val="600"/>
              </a:spcAft>
            </a:pPr>
            <a:r>
              <a:rPr sz="1500" b="0">
                <a:solidFill>
                  <a:srgbClr val="222222"/>
                </a:solidFill>
                <a:latin typeface="Calibri"/>
              </a:rPr>
              <a:t>– Ignores rainfall, soil, seed variety</a:t>
            </a:r>
          </a:p>
          <a:p>
            <a:pPr lvl="1">
              <a:spcAft>
                <a:spcPts val="600"/>
              </a:spcAft>
            </a:pPr>
            <a:r>
              <a:rPr sz="1500" b="0">
                <a:solidFill>
                  <a:srgbClr val="222222"/>
                </a:solidFill>
                <a:latin typeface="Calibri"/>
              </a:rPr>
              <a:t>– Slope is biased if a missing cause is linked to fertilizer use</a:t>
            </a:r>
          </a:p>
        </p:txBody>
      </p:sp>
      <p:sp>
        <p:nvSpPr>
          <p:cNvPr id="8" name="Rectangle 7"/>
          <p:cNvSpPr/>
          <p:nvPr/>
        </p:nvSpPr>
        <p:spPr>
          <a:xfrm>
            <a:off x="6583680" y="1280160"/>
            <a:ext cx="5120640" cy="210312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a:solidFill>
                  <a:srgbClr val="222222"/>
                </a:solidFill>
                <a:latin typeface="Consolas"/>
              </a:rPr>
              <a:t>farm  &lt;- read.csv("farm_plots.csv")</a:t>
            </a:r>
          </a:p>
          <a:p>
            <a:pPr algn="l"/>
            <a:r>
              <a:rPr sz="1300">
                <a:solidFill>
                  <a:srgbClr val="222222"/>
                </a:solidFill>
                <a:latin typeface="Consolas"/>
              </a:rPr>
              <a:t>model &lt;- lm(yield ~ fertilizer, data = farm)</a:t>
            </a:r>
          </a:p>
          <a:p>
            <a:pPr algn="l"/>
            <a:r>
              <a:rPr sz="1300">
                <a:solidFill>
                  <a:srgbClr val="222222"/>
                </a:solidFill>
                <a:latin typeface="Consolas"/>
              </a:rPr>
              <a:t>summary(model)</a:t>
            </a:r>
          </a:p>
          <a:p>
            <a:pPr algn="l"/>
            <a:r>
              <a:rPr sz="1300">
                <a:solidFill>
                  <a:srgbClr val="222222"/>
                </a:solidFill>
                <a:latin typeface="Consolas"/>
              </a:rPr>
              <a:t>plot(farm$fertilizer, farm$yield)</a:t>
            </a:r>
          </a:p>
          <a:p>
            <a:pPr algn="l"/>
            <a:r>
              <a:rPr sz="1300">
                <a:solidFill>
                  <a:srgbClr val="222222"/>
                </a:solidFill>
                <a:latin typeface="Consolas"/>
              </a:rPr>
              <a:t>abline(model, col = "red")</a:t>
            </a:r>
          </a:p>
        </p:txBody>
      </p:sp>
      <p:sp>
        <p:nvSpPr>
          <p:cNvPr id="9" name="TextBox 8"/>
          <p:cNvSpPr txBox="1"/>
          <p:nvPr/>
        </p:nvSpPr>
        <p:spPr>
          <a:xfrm>
            <a:off x="6583680" y="3566160"/>
            <a:ext cx="5120640" cy="2560320"/>
          </a:xfrm>
          <a:prstGeom prst="rect">
            <a:avLst/>
          </a:prstGeom>
          <a:noFill/>
        </p:spPr>
        <p:txBody>
          <a:bodyPr wrap="square">
            <a:spAutoFit/>
          </a:bodyPr>
          <a:lstStyle/>
          <a:p>
            <a:pPr>
              <a:spcAft>
                <a:spcPts val="600"/>
              </a:spcAft>
            </a:pPr>
            <a:r>
              <a:rPr sz="1500" b="0">
                <a:solidFill>
                  <a:srgbClr val="222222"/>
                </a:solidFill>
                <a:latin typeface="Calibri"/>
              </a:rPr>
              <a:t>• Best for: a </a:t>
            </a:r>
            <a:r>
              <a:rPr sz="1500" b="1">
                <a:solidFill>
                  <a:srgbClr val="222222"/>
                </a:solidFill>
                <a:latin typeface="Calibri"/>
              </a:rPr>
              <a:t>single dominant driver</a:t>
            </a:r>
            <a:r>
              <a:rPr sz="1500" b="0">
                <a:solidFill>
                  <a:srgbClr val="222222"/>
                </a:solidFill>
                <a:latin typeface="Calibri"/>
              </a:rPr>
              <a:t>, quick first look, teaching</a:t>
            </a:r>
          </a:p>
          <a:p>
            <a:pPr>
              <a:spcAft>
                <a:spcPts val="600"/>
              </a:spcAft>
            </a:pPr>
            <a:r>
              <a:rPr sz="1500" b="0">
                <a:solidFill>
                  <a:srgbClr val="222222"/>
                </a:solidFill>
                <a:latin typeface="Calibri"/>
              </a:rPr>
              <a:t>• In the summative Task 2 data, fertilizer type is categorical, so ANOVA is the matching tool; with a </a:t>
            </a:r>
            <a:r>
              <a:rPr sz="1500" b="1">
                <a:solidFill>
                  <a:srgbClr val="222222"/>
                </a:solidFill>
                <a:latin typeface="Calibri"/>
              </a:rPr>
              <a:t>continuous</a:t>
            </a:r>
            <a:r>
              <a:rPr sz="1500" b="0">
                <a:solidFill>
                  <a:srgbClr val="222222"/>
                </a:solidFill>
                <a:latin typeface="Calibri"/>
              </a:rPr>
              <a:t> fertilizer amount, simple regression is the tool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Multiple Linear Regression : Real Estate</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2 : Types</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7</a:t>
            </a:r>
          </a:p>
        </p:txBody>
      </p:sp>
      <p:sp>
        <p:nvSpPr>
          <p:cNvPr id="7" name="TextBox 6"/>
          <p:cNvSpPr txBox="1"/>
          <p:nvPr/>
        </p:nvSpPr>
        <p:spPr>
          <a:xfrm>
            <a:off x="548640" y="1280160"/>
            <a:ext cx="5760720" cy="4937760"/>
          </a:xfrm>
          <a:prstGeom prst="rect">
            <a:avLst/>
          </a:prstGeom>
          <a:noFill/>
        </p:spPr>
        <p:txBody>
          <a:bodyPr wrap="square">
            <a:spAutoFit/>
          </a:bodyPr>
          <a:lstStyle/>
          <a:p>
            <a:pPr>
              <a:spcAft>
                <a:spcPts val="600"/>
              </a:spcAft>
            </a:pPr>
            <a:r>
              <a:rPr sz="1700" b="1">
                <a:solidFill>
                  <a:srgbClr val="222222"/>
                </a:solidFill>
                <a:latin typeface="Calibri"/>
              </a:rPr>
              <a:t>• Data set</a:t>
            </a:r>
            <a:r>
              <a:rPr sz="1700" b="0">
                <a:solidFill>
                  <a:srgbClr val="222222"/>
                </a:solidFill>
                <a:latin typeface="Calibri"/>
              </a:rPr>
              <a:t>: house sale prices with area, bedrooms, age, distance to city centre</a:t>
            </a:r>
          </a:p>
          <a:p>
            <a:pPr>
              <a:spcAft>
                <a:spcPts val="600"/>
              </a:spcAft>
            </a:pPr>
            <a:r>
              <a:rPr sz="1700" b="1">
                <a:solidFill>
                  <a:srgbClr val="222222"/>
                </a:solidFill>
                <a:latin typeface="Calibri"/>
              </a:rPr>
              <a:t>• Model</a:t>
            </a:r>
            <a:r>
              <a:rPr sz="1700" b="0">
                <a:solidFill>
                  <a:srgbClr val="222222"/>
                </a:solidFill>
                <a:latin typeface="Calibri"/>
              </a:rPr>
              <a:t>: price = b₀ + b₁·area + b₂·bedrooms + b₃·age + b₄·distance</a:t>
            </a:r>
          </a:p>
          <a:p>
            <a:pPr>
              <a:spcAft>
                <a:spcPts val="600"/>
              </a:spcAft>
            </a:pPr>
            <a:r>
              <a:rPr sz="1700" b="0">
                <a:solidFill>
                  <a:srgbClr val="222222"/>
                </a:solidFill>
                <a:latin typeface="Calibri"/>
              </a:rPr>
              <a:t>• Each slope = effect of that predictor </a:t>
            </a:r>
            <a:r>
              <a:rPr sz="1700" b="1">
                <a:solidFill>
                  <a:srgbClr val="222222"/>
                </a:solidFill>
                <a:latin typeface="Calibri"/>
              </a:rPr>
              <a:t>holding the others constant</a:t>
            </a:r>
          </a:p>
          <a:p>
            <a:pPr>
              <a:spcAft>
                <a:spcPts val="600"/>
              </a:spcAft>
            </a:pPr>
            <a:r>
              <a:rPr sz="1700" b="0">
                <a:solidFill>
                  <a:srgbClr val="222222"/>
                </a:solidFill>
                <a:latin typeface="Calibri"/>
              </a:rPr>
              <a:t>• Compare models with </a:t>
            </a:r>
            <a:r>
              <a:rPr sz="1700" b="1">
                <a:solidFill>
                  <a:srgbClr val="222222"/>
                </a:solidFill>
                <a:latin typeface="Calibri"/>
              </a:rPr>
              <a:t>adjusted R²</a:t>
            </a:r>
            <a:r>
              <a:rPr sz="1700" b="0">
                <a:solidFill>
                  <a:srgbClr val="222222"/>
                </a:solidFill>
                <a:latin typeface="Calibri"/>
              </a:rPr>
              <a:t> and </a:t>
            </a:r>
            <a:r>
              <a:rPr sz="1700" b="1">
                <a:solidFill>
                  <a:srgbClr val="222222"/>
                </a:solidFill>
                <a:latin typeface="Calibri"/>
              </a:rPr>
              <a:t>AIC</a:t>
            </a:r>
            <a:r>
              <a:rPr sz="1700" b="0">
                <a:solidFill>
                  <a:srgbClr val="222222"/>
                </a:solidFill>
                <a:latin typeface="Calibri"/>
              </a:rPr>
              <a:t>, not plain R²</a:t>
            </a:r>
          </a:p>
          <a:p>
            <a:pPr>
              <a:spcAft>
                <a:spcPts val="600"/>
              </a:spcAft>
            </a:pPr>
            <a:r>
              <a:rPr sz="1700" b="0">
                <a:solidFill>
                  <a:srgbClr val="222222"/>
                </a:solidFill>
                <a:latin typeface="Calibri"/>
              </a:rPr>
              <a:t>• Danger: </a:t>
            </a:r>
            <a:r>
              <a:rPr sz="1700" b="1">
                <a:solidFill>
                  <a:srgbClr val="222222"/>
                </a:solidFill>
                <a:latin typeface="Calibri"/>
              </a:rPr>
              <a:t>multicollinearity</a:t>
            </a:r>
            <a:r>
              <a:rPr sz="1700" b="0">
                <a:solidFill>
                  <a:srgbClr val="222222"/>
                </a:solidFill>
                <a:latin typeface="Calibri"/>
              </a:rPr>
              <a:t> (area and bedrooms move together)</a:t>
            </a:r>
          </a:p>
          <a:p>
            <a:pPr>
              <a:spcAft>
                <a:spcPts val="600"/>
              </a:spcAft>
            </a:pPr>
            <a:r>
              <a:rPr sz="1700" b="0">
                <a:solidFill>
                  <a:srgbClr val="222222"/>
                </a:solidFill>
                <a:latin typeface="Calibri"/>
              </a:rPr>
              <a:t>• Fix: variable selection, e.g. backward stepwise by AIC</a:t>
            </a:r>
          </a:p>
        </p:txBody>
      </p:sp>
      <p:sp>
        <p:nvSpPr>
          <p:cNvPr id="8" name="Rectangle 7"/>
          <p:cNvSpPr/>
          <p:nvPr/>
        </p:nvSpPr>
        <p:spPr>
          <a:xfrm>
            <a:off x="6583680" y="1280160"/>
            <a:ext cx="5120640" cy="182880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a:solidFill>
                  <a:srgbClr val="222222"/>
                </a:solidFill>
                <a:latin typeface="Consolas"/>
              </a:rPr>
              <a:t>model &lt;- lm(price ~ area + bedrooms + age + distance,</a:t>
            </a:r>
          </a:p>
          <a:p>
            <a:pPr algn="l"/>
            <a:r>
              <a:rPr sz="1300">
                <a:solidFill>
                  <a:srgbClr val="222222"/>
                </a:solidFill>
                <a:latin typeface="Consolas"/>
              </a:rPr>
              <a:t>            data = houses)</a:t>
            </a:r>
          </a:p>
          <a:p>
            <a:pPr algn="l"/>
            <a:r>
              <a:rPr sz="1300">
                <a:solidFill>
                  <a:srgbClr val="222222"/>
                </a:solidFill>
                <a:latin typeface="Consolas"/>
              </a:rPr>
              <a:t>summary(model)$adj.r.squared</a:t>
            </a:r>
          </a:p>
          <a:p>
            <a:pPr algn="l"/>
            <a:r>
              <a:rPr sz="1300">
                <a:solidFill>
                  <a:srgbClr val="222222"/>
                </a:solidFill>
                <a:latin typeface="Consolas"/>
              </a:rPr>
              <a:t>step(model, direction = "backward")   # selection</a:t>
            </a:r>
          </a:p>
        </p:txBody>
      </p:sp>
      <p:graphicFrame>
        <p:nvGraphicFramePr>
          <p:cNvPr id="9" name="Table 8"/>
          <p:cNvGraphicFramePr>
            <a:graphicFrameLocks noGrp="1"/>
          </p:cNvGraphicFramePr>
          <p:nvPr/>
        </p:nvGraphicFramePr>
        <p:xfrm>
          <a:off x="6583680" y="3291840"/>
          <a:ext cx="5120640" cy="2651760"/>
        </p:xfrm>
        <a:graphic>
          <a:graphicData uri="http://schemas.openxmlformats.org/drawingml/2006/table">
            <a:tbl>
              <a:tblPr firstRow="1" bandRow="1">
                <a:tableStyleId>{5C22544A-7EE6-4342-B048-85BDC9FD1C3A}</a:tableStyleId>
              </a:tblPr>
              <a:tblGrid>
                <a:gridCol w="3108960"/>
                <a:gridCol w="1005840"/>
                <a:gridCol w="1005840"/>
              </a:tblGrid>
              <a:tr h="662940">
                <a:tc>
                  <a:txBody>
                    <a:bodyPr/>
                    <a:lstStyle/>
                    <a:p>
                      <a:r>
                        <a:rPr sz="1300" b="1">
                          <a:solidFill>
                            <a:srgbClr val="FFFFFF"/>
                          </a:solidFill>
                          <a:latin typeface="Calibri"/>
                        </a:rPr>
                        <a:t>Car data (summative Task 1)</a:t>
                      </a:r>
                    </a:p>
                  </a:txBody>
                  <a:tcPr marT="36576" marB="36576">
                    <a:solidFill>
                      <a:srgbClr val="2E5A88"/>
                    </a:solidFill>
                  </a:tcPr>
                </a:tc>
                <a:tc>
                  <a:txBody>
                    <a:bodyPr/>
                    <a:lstStyle/>
                    <a:p>
                      <a:r>
                        <a:rPr sz="1300" b="1">
                          <a:solidFill>
                            <a:srgbClr val="FFFFFF"/>
                          </a:solidFill>
                          <a:latin typeface="Calibri"/>
                        </a:rPr>
                        <a:t>Adj. R²</a:t>
                      </a:r>
                    </a:p>
                  </a:txBody>
                  <a:tcPr marT="36576" marB="36576">
                    <a:solidFill>
                      <a:srgbClr val="2E5A88"/>
                    </a:solidFill>
                  </a:tcPr>
                </a:tc>
                <a:tc>
                  <a:txBody>
                    <a:bodyPr/>
                    <a:lstStyle/>
                    <a:p>
                      <a:r>
                        <a:rPr sz="1300" b="1">
                          <a:solidFill>
                            <a:srgbClr val="FFFFFF"/>
                          </a:solidFill>
                          <a:latin typeface="Calibri"/>
                        </a:rPr>
                        <a:t>AIC</a:t>
                      </a:r>
                    </a:p>
                  </a:txBody>
                  <a:tcPr marT="36576" marB="36576">
                    <a:solidFill>
                      <a:srgbClr val="2E5A88"/>
                    </a:solidFill>
                  </a:tcPr>
                </a:tc>
              </a:tr>
              <a:tr h="662940">
                <a:tc>
                  <a:txBody>
                    <a:bodyPr/>
                    <a:lstStyle/>
                    <a:p>
                      <a:r>
                        <a:rPr sz="1300" b="0">
                          <a:solidFill>
                            <a:srgbClr val="222222"/>
                          </a:solidFill>
                          <a:latin typeface="Calibri"/>
                        </a:rPr>
                        <a:t>mpg ~ wt</a:t>
                      </a:r>
                    </a:p>
                  </a:txBody>
                  <a:tcPr marT="36576" marB="36576">
                    <a:solidFill>
                      <a:srgbClr val="FFFFFF"/>
                    </a:solidFill>
                  </a:tcPr>
                </a:tc>
                <a:tc>
                  <a:txBody>
                    <a:bodyPr/>
                    <a:lstStyle/>
                    <a:p>
                      <a:r>
                        <a:rPr sz="1300" b="0">
                          <a:solidFill>
                            <a:srgbClr val="222222"/>
                          </a:solidFill>
                          <a:latin typeface="Calibri"/>
                        </a:rPr>
                        <a:t>0.745</a:t>
                      </a:r>
                    </a:p>
                  </a:txBody>
                  <a:tcPr marT="36576" marB="36576">
                    <a:solidFill>
                      <a:srgbClr val="FFFFFF"/>
                    </a:solidFill>
                  </a:tcPr>
                </a:tc>
                <a:tc>
                  <a:txBody>
                    <a:bodyPr/>
                    <a:lstStyle/>
                    <a:p>
                      <a:r>
                        <a:rPr sz="1300" b="0">
                          <a:solidFill>
                            <a:srgbClr val="222222"/>
                          </a:solidFill>
                          <a:latin typeface="Calibri"/>
                        </a:rPr>
                        <a:t>166.0</a:t>
                      </a:r>
                    </a:p>
                  </a:txBody>
                  <a:tcPr marT="36576" marB="36576">
                    <a:solidFill>
                      <a:srgbClr val="FFFFFF"/>
                    </a:solidFill>
                  </a:tcPr>
                </a:tc>
              </a:tr>
              <a:tr h="662940">
                <a:tc>
                  <a:txBody>
                    <a:bodyPr/>
                    <a:lstStyle/>
                    <a:p>
                      <a:r>
                        <a:rPr sz="1300" b="0">
                          <a:solidFill>
                            <a:srgbClr val="222222"/>
                          </a:solidFill>
                          <a:latin typeface="Calibri"/>
                        </a:rPr>
                        <a:t>mpg ~ all 10 predictors</a:t>
                      </a:r>
                    </a:p>
                  </a:txBody>
                  <a:tcPr marT="36576" marB="36576">
                    <a:solidFill>
                      <a:srgbClr val="F2F5F9"/>
                    </a:solidFill>
                  </a:tcPr>
                </a:tc>
                <a:tc>
                  <a:txBody>
                    <a:bodyPr/>
                    <a:lstStyle/>
                    <a:p>
                      <a:r>
                        <a:rPr sz="1300" b="0">
                          <a:solidFill>
                            <a:srgbClr val="222222"/>
                          </a:solidFill>
                          <a:latin typeface="Calibri"/>
                        </a:rPr>
                        <a:t>0.807</a:t>
                      </a:r>
                    </a:p>
                  </a:txBody>
                  <a:tcPr marT="36576" marB="36576">
                    <a:solidFill>
                      <a:srgbClr val="F2F5F9"/>
                    </a:solidFill>
                  </a:tcPr>
                </a:tc>
                <a:tc>
                  <a:txBody>
                    <a:bodyPr/>
                    <a:lstStyle/>
                    <a:p>
                      <a:r>
                        <a:rPr sz="1300" b="0">
                          <a:solidFill>
                            <a:srgbClr val="222222"/>
                          </a:solidFill>
                          <a:latin typeface="Calibri"/>
                        </a:rPr>
                        <a:t>163.7</a:t>
                      </a:r>
                    </a:p>
                  </a:txBody>
                  <a:tcPr marT="36576" marB="36576">
                    <a:solidFill>
                      <a:srgbClr val="F2F5F9"/>
                    </a:solidFill>
                  </a:tcPr>
                </a:tc>
              </a:tr>
              <a:tr h="662940">
                <a:tc>
                  <a:txBody>
                    <a:bodyPr/>
                    <a:lstStyle/>
                    <a:p>
                      <a:r>
                        <a:rPr sz="1300" b="0">
                          <a:solidFill>
                            <a:srgbClr val="222222"/>
                          </a:solidFill>
                          <a:latin typeface="Calibri"/>
                        </a:rPr>
                        <a:t>mpg ~ wt + qsec + am  (stepwise)</a:t>
                      </a:r>
                    </a:p>
                  </a:txBody>
                  <a:tcPr marT="36576" marB="36576">
                    <a:solidFill>
                      <a:srgbClr val="FFFFFF"/>
                    </a:solidFill>
                  </a:tcPr>
                </a:tc>
                <a:tc>
                  <a:txBody>
                    <a:bodyPr/>
                    <a:lstStyle/>
                    <a:p>
                      <a:r>
                        <a:rPr sz="1300" b="0">
                          <a:solidFill>
                            <a:srgbClr val="222222"/>
                          </a:solidFill>
                          <a:latin typeface="Calibri"/>
                        </a:rPr>
                        <a:t>0.834</a:t>
                      </a:r>
                    </a:p>
                  </a:txBody>
                  <a:tcPr marT="36576" marB="36576">
                    <a:solidFill>
                      <a:srgbClr val="FFFFFF"/>
                    </a:solidFill>
                  </a:tcPr>
                </a:tc>
                <a:tc>
                  <a:txBody>
                    <a:bodyPr/>
                    <a:lstStyle/>
                    <a:p>
                      <a:r>
                        <a:rPr sz="1300" b="0">
                          <a:solidFill>
                            <a:srgbClr val="222222"/>
                          </a:solidFill>
                          <a:latin typeface="Calibri"/>
                        </a:rPr>
                        <a:t>154.1</a:t>
                      </a:r>
                    </a:p>
                  </a:txBody>
                  <a:tcPr marT="36576" marB="36576">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Polynomial Regression : Pharmacology</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2 : Types</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8</a:t>
            </a:r>
          </a:p>
        </p:txBody>
      </p:sp>
      <p:pic>
        <p:nvPicPr>
          <p:cNvPr id="7" name="Picture 6" descr="polynomial.png"/>
          <p:cNvPicPr>
            <a:picLocks noChangeAspect="1"/>
          </p:cNvPicPr>
          <p:nvPr/>
        </p:nvPicPr>
        <p:blipFill>
          <a:blip r:embed="rId3"/>
          <a:stretch>
            <a:fillRect/>
          </a:stretch>
        </p:blipFill>
        <p:spPr>
          <a:xfrm>
            <a:off x="457200" y="1280160"/>
            <a:ext cx="6035040" cy="4023360"/>
          </a:xfrm>
          <a:prstGeom prst="rect">
            <a:avLst/>
          </a:prstGeom>
        </p:spPr>
      </p:pic>
      <p:sp>
        <p:nvSpPr>
          <p:cNvPr id="8" name="TextBox 7"/>
          <p:cNvSpPr txBox="1"/>
          <p:nvPr/>
        </p:nvSpPr>
        <p:spPr>
          <a:xfrm>
            <a:off x="6766560" y="1280160"/>
            <a:ext cx="5029200" cy="2377440"/>
          </a:xfrm>
          <a:prstGeom prst="rect">
            <a:avLst/>
          </a:prstGeom>
          <a:noFill/>
        </p:spPr>
        <p:txBody>
          <a:bodyPr wrap="square">
            <a:spAutoFit/>
          </a:bodyPr>
          <a:lstStyle/>
          <a:p>
            <a:pPr>
              <a:spcAft>
                <a:spcPts val="600"/>
              </a:spcAft>
            </a:pPr>
            <a:r>
              <a:rPr sz="1600" b="1">
                <a:solidFill>
                  <a:srgbClr val="222222"/>
                </a:solidFill>
                <a:latin typeface="Calibri"/>
              </a:rPr>
              <a:t>• Data set</a:t>
            </a:r>
            <a:r>
              <a:rPr sz="1600" b="0">
                <a:solidFill>
                  <a:srgbClr val="222222"/>
                </a:solidFill>
                <a:latin typeface="Calibri"/>
              </a:rPr>
              <a:t>: drug dose (mg) vs patient response in a clinical trial</a:t>
            </a:r>
          </a:p>
          <a:p>
            <a:pPr>
              <a:spcAft>
                <a:spcPts val="600"/>
              </a:spcAft>
            </a:pPr>
            <a:r>
              <a:rPr sz="1600" b="0">
                <a:solidFill>
                  <a:srgbClr val="222222"/>
                </a:solidFill>
                <a:latin typeface="Calibri"/>
              </a:rPr>
              <a:t>• Response rises, then flattens or falls: a </a:t>
            </a:r>
            <a:r>
              <a:rPr sz="1600" b="1">
                <a:solidFill>
                  <a:srgbClr val="222222"/>
                </a:solidFill>
                <a:latin typeface="Calibri"/>
              </a:rPr>
              <a:t>curve</a:t>
            </a:r>
            <a:r>
              <a:rPr sz="1600" b="0">
                <a:solidFill>
                  <a:srgbClr val="222222"/>
                </a:solidFill>
                <a:latin typeface="Calibri"/>
              </a:rPr>
              <a:t>, not a line</a:t>
            </a:r>
          </a:p>
          <a:p>
            <a:pPr>
              <a:spcAft>
                <a:spcPts val="600"/>
              </a:spcAft>
            </a:pPr>
            <a:r>
              <a:rPr sz="1600" b="1">
                <a:solidFill>
                  <a:srgbClr val="222222"/>
                </a:solidFill>
                <a:latin typeface="Calibri"/>
              </a:rPr>
              <a:t>• Model</a:t>
            </a:r>
            <a:r>
              <a:rPr sz="1600" b="0">
                <a:solidFill>
                  <a:srgbClr val="222222"/>
                </a:solidFill>
                <a:latin typeface="Calibri"/>
              </a:rPr>
              <a:t>: response = b₀ + b₁·dose + b₂·dose²</a:t>
            </a:r>
          </a:p>
          <a:p>
            <a:pPr>
              <a:spcAft>
                <a:spcPts val="600"/>
              </a:spcAft>
            </a:pPr>
            <a:r>
              <a:rPr sz="1600" b="0">
                <a:solidFill>
                  <a:srgbClr val="222222"/>
                </a:solidFill>
                <a:latin typeface="Calibri"/>
              </a:rPr>
              <a:t>• Still linear in the coefficients, so </a:t>
            </a:r>
            <a:r>
              <a:rPr sz="1600" b="1">
                <a:solidFill>
                  <a:srgbClr val="222222"/>
                </a:solidFill>
                <a:latin typeface="Calibri"/>
              </a:rPr>
              <a:t>lm()</a:t>
            </a:r>
            <a:r>
              <a:rPr sz="1600" b="0">
                <a:solidFill>
                  <a:srgbClr val="222222"/>
                </a:solidFill>
                <a:latin typeface="Calibri"/>
              </a:rPr>
              <a:t> fits it</a:t>
            </a:r>
          </a:p>
        </p:txBody>
      </p:sp>
      <p:sp>
        <p:nvSpPr>
          <p:cNvPr id="9" name="Rectangle 8"/>
          <p:cNvSpPr/>
          <p:nvPr/>
        </p:nvSpPr>
        <p:spPr>
          <a:xfrm>
            <a:off x="6766560" y="3749039"/>
            <a:ext cx="5029200" cy="137160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a:solidFill>
                  <a:srgbClr val="222222"/>
                </a:solidFill>
                <a:latin typeface="Consolas"/>
              </a:rPr>
              <a:t>model &lt;- lm(response ~ dose + I(dose^2),</a:t>
            </a:r>
          </a:p>
          <a:p>
            <a:pPr algn="l"/>
            <a:r>
              <a:rPr sz="1300">
                <a:solidFill>
                  <a:srgbClr val="222222"/>
                </a:solidFill>
                <a:latin typeface="Consolas"/>
              </a:rPr>
              <a:t>            data = trial)</a:t>
            </a:r>
          </a:p>
          <a:p>
            <a:pPr algn="l"/>
            <a:r>
              <a:rPr sz="1300">
                <a:solidFill>
                  <a:srgbClr val="1F3A5F"/>
                </a:solidFill>
                <a:latin typeface="Consolas"/>
              </a:rPr>
              <a:t># or:  lm(response ~ poly(dose, 2), data = trial)</a:t>
            </a:r>
          </a:p>
        </p:txBody>
      </p:sp>
      <p:sp>
        <p:nvSpPr>
          <p:cNvPr id="10" name="TextBox 9"/>
          <p:cNvSpPr txBox="1"/>
          <p:nvPr/>
        </p:nvSpPr>
        <p:spPr>
          <a:xfrm>
            <a:off x="6766560" y="5212080"/>
            <a:ext cx="5029200" cy="1097280"/>
          </a:xfrm>
          <a:prstGeom prst="rect">
            <a:avLst/>
          </a:prstGeom>
          <a:noFill/>
        </p:spPr>
        <p:txBody>
          <a:bodyPr wrap="square">
            <a:spAutoFit/>
          </a:bodyPr>
          <a:lstStyle/>
          <a:p>
            <a:pPr>
              <a:spcAft>
                <a:spcPts val="600"/>
              </a:spcAft>
            </a:pPr>
            <a:r>
              <a:rPr sz="1600" b="0">
                <a:solidFill>
                  <a:srgbClr val="222222"/>
                </a:solidFill>
                <a:latin typeface="Calibri"/>
              </a:rPr>
              <a:t>• Risk: high degrees </a:t>
            </a:r>
            <a:r>
              <a:rPr sz="1600" b="1">
                <a:solidFill>
                  <a:srgbClr val="222222"/>
                </a:solidFill>
                <a:latin typeface="Calibri"/>
              </a:rPr>
              <a:t>overfit</a:t>
            </a:r>
            <a:r>
              <a:rPr sz="1600" b="0">
                <a:solidFill>
                  <a:srgbClr val="222222"/>
                </a:solidFill>
                <a:latin typeface="Calibri"/>
              </a:rPr>
              <a:t> and behave wildly outside the data range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Compare and Contrast the Types</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2 : Types</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9</a:t>
            </a:r>
          </a:p>
        </p:txBody>
      </p:sp>
      <p:graphicFrame>
        <p:nvGraphicFramePr>
          <p:cNvPr id="7" name="Table 6"/>
          <p:cNvGraphicFramePr>
            <a:graphicFrameLocks noGrp="1"/>
          </p:cNvGraphicFramePr>
          <p:nvPr/>
        </p:nvGraphicFramePr>
        <p:xfrm>
          <a:off x="457200" y="1280160"/>
          <a:ext cx="11247120" cy="4023360"/>
        </p:xfrm>
        <a:graphic>
          <a:graphicData uri="http://schemas.openxmlformats.org/drawingml/2006/table">
            <a:tbl>
              <a:tblPr firstRow="1" bandRow="1">
                <a:tableStyleId>{5C22544A-7EE6-4342-B048-85BDC9FD1C3A}</a:tableStyleId>
              </a:tblPr>
              <a:tblGrid>
                <a:gridCol w="1371600"/>
                <a:gridCol w="1371600"/>
                <a:gridCol w="1371600"/>
                <a:gridCol w="2834640"/>
                <a:gridCol w="2286000"/>
                <a:gridCol w="2011680"/>
              </a:tblGrid>
              <a:tr h="804672">
                <a:tc>
                  <a:txBody>
                    <a:bodyPr/>
                    <a:lstStyle/>
                    <a:p>
                      <a:r>
                        <a:rPr sz="1300" b="1">
                          <a:solidFill>
                            <a:srgbClr val="FFFFFF"/>
                          </a:solidFill>
                          <a:latin typeface="Calibri"/>
                        </a:rPr>
                        <a:t>Type</a:t>
                      </a:r>
                    </a:p>
                  </a:txBody>
                  <a:tcPr marT="36576" marB="36576">
                    <a:solidFill>
                      <a:srgbClr val="2E5A88"/>
                    </a:solidFill>
                  </a:tcPr>
                </a:tc>
                <a:tc>
                  <a:txBody>
                    <a:bodyPr/>
                    <a:lstStyle/>
                    <a:p>
                      <a:r>
                        <a:rPr sz="1300" b="1">
                          <a:solidFill>
                            <a:srgbClr val="FFFFFF"/>
                          </a:solidFill>
                          <a:latin typeface="Calibri"/>
                        </a:rPr>
                        <a:t>Predictors</a:t>
                      </a:r>
                    </a:p>
                  </a:txBody>
                  <a:tcPr marT="36576" marB="36576">
                    <a:solidFill>
                      <a:srgbClr val="2E5A88"/>
                    </a:solidFill>
                  </a:tcPr>
                </a:tc>
                <a:tc>
                  <a:txBody>
                    <a:bodyPr/>
                    <a:lstStyle/>
                    <a:p>
                      <a:r>
                        <a:rPr sz="1300" b="1">
                          <a:solidFill>
                            <a:srgbClr val="FFFFFF"/>
                          </a:solidFill>
                          <a:latin typeface="Calibri"/>
                        </a:rPr>
                        <a:t>Shape</a:t>
                      </a:r>
                    </a:p>
                  </a:txBody>
                  <a:tcPr marT="36576" marB="36576">
                    <a:solidFill>
                      <a:srgbClr val="2E5A88"/>
                    </a:solidFill>
                  </a:tcPr>
                </a:tc>
                <a:tc>
                  <a:txBody>
                    <a:bodyPr/>
                    <a:lstStyle/>
                    <a:p>
                      <a:r>
                        <a:rPr sz="1300" b="1">
                          <a:solidFill>
                            <a:srgbClr val="FFFFFF"/>
                          </a:solidFill>
                          <a:latin typeface="Calibri"/>
                        </a:rPr>
                        <a:t>Example data set</a:t>
                      </a:r>
                    </a:p>
                  </a:txBody>
                  <a:tcPr marT="36576" marB="36576">
                    <a:solidFill>
                      <a:srgbClr val="2E5A88"/>
                    </a:solidFill>
                  </a:tcPr>
                </a:tc>
                <a:tc>
                  <a:txBody>
                    <a:bodyPr/>
                    <a:lstStyle/>
                    <a:p>
                      <a:r>
                        <a:rPr sz="1300" b="1">
                          <a:solidFill>
                            <a:srgbClr val="FFFFFF"/>
                          </a:solidFill>
                          <a:latin typeface="Calibri"/>
                        </a:rPr>
                        <a:t>Best for</a:t>
                      </a:r>
                    </a:p>
                  </a:txBody>
                  <a:tcPr marT="36576" marB="36576">
                    <a:solidFill>
                      <a:srgbClr val="2E5A88"/>
                    </a:solidFill>
                  </a:tcPr>
                </a:tc>
                <a:tc>
                  <a:txBody>
                    <a:bodyPr/>
                    <a:lstStyle/>
                    <a:p>
                      <a:r>
                        <a:rPr sz="1300" b="1">
                          <a:solidFill>
                            <a:srgbClr val="FFFFFF"/>
                          </a:solidFill>
                          <a:latin typeface="Calibri"/>
                        </a:rPr>
                        <a:t>Main risk</a:t>
                      </a:r>
                    </a:p>
                  </a:txBody>
                  <a:tcPr marT="36576" marB="36576">
                    <a:solidFill>
                      <a:srgbClr val="2E5A88"/>
                    </a:solidFill>
                  </a:tcPr>
                </a:tc>
              </a:tr>
              <a:tr h="804672">
                <a:tc>
                  <a:txBody>
                    <a:bodyPr/>
                    <a:lstStyle/>
                    <a:p>
                      <a:r>
                        <a:rPr sz="1300" b="0">
                          <a:solidFill>
                            <a:srgbClr val="222222"/>
                          </a:solidFill>
                          <a:latin typeface="Calibri"/>
                        </a:rPr>
                        <a:t>Simple</a:t>
                      </a:r>
                    </a:p>
                  </a:txBody>
                  <a:tcPr marT="36576" marB="36576">
                    <a:solidFill>
                      <a:srgbClr val="FFFFFF"/>
                    </a:solidFill>
                  </a:tcPr>
                </a:tc>
                <a:tc>
                  <a:txBody>
                    <a:bodyPr/>
                    <a:lstStyle/>
                    <a:p>
                      <a:r>
                        <a:rPr sz="1300" b="0">
                          <a:solidFill>
                            <a:srgbClr val="222222"/>
                          </a:solidFill>
                          <a:latin typeface="Calibri"/>
                        </a:rPr>
                        <a:t>1</a:t>
                      </a:r>
                    </a:p>
                  </a:txBody>
                  <a:tcPr marT="36576" marB="36576">
                    <a:solidFill>
                      <a:srgbClr val="FFFFFF"/>
                    </a:solidFill>
                  </a:tcPr>
                </a:tc>
                <a:tc>
                  <a:txBody>
                    <a:bodyPr/>
                    <a:lstStyle/>
                    <a:p>
                      <a:r>
                        <a:rPr sz="1300" b="0">
                          <a:solidFill>
                            <a:srgbClr val="222222"/>
                          </a:solidFill>
                          <a:latin typeface="Calibri"/>
                        </a:rPr>
                        <a:t>Straight line</a:t>
                      </a:r>
                    </a:p>
                  </a:txBody>
                  <a:tcPr marT="36576" marB="36576">
                    <a:solidFill>
                      <a:srgbClr val="FFFFFF"/>
                    </a:solidFill>
                  </a:tcPr>
                </a:tc>
                <a:tc>
                  <a:txBody>
                    <a:bodyPr/>
                    <a:lstStyle/>
                    <a:p>
                      <a:r>
                        <a:rPr sz="1300" b="0">
                          <a:solidFill>
                            <a:srgbClr val="222222"/>
                          </a:solidFill>
                          <a:latin typeface="Calibri"/>
                        </a:rPr>
                        <a:t>Fertilizer vs yield (agriculture)</a:t>
                      </a:r>
                    </a:p>
                  </a:txBody>
                  <a:tcPr marT="36576" marB="36576">
                    <a:solidFill>
                      <a:srgbClr val="FFFFFF"/>
                    </a:solidFill>
                  </a:tcPr>
                </a:tc>
                <a:tc>
                  <a:txBody>
                    <a:bodyPr/>
                    <a:lstStyle/>
                    <a:p>
                      <a:r>
                        <a:rPr sz="1300" b="0">
                          <a:solidFill>
                            <a:srgbClr val="222222"/>
                          </a:solidFill>
                          <a:latin typeface="Calibri"/>
                        </a:rPr>
                        <a:t>Explaining, quick checks</a:t>
                      </a:r>
                    </a:p>
                  </a:txBody>
                  <a:tcPr marT="36576" marB="36576">
                    <a:solidFill>
                      <a:srgbClr val="FFFFFF"/>
                    </a:solidFill>
                  </a:tcPr>
                </a:tc>
                <a:tc>
                  <a:txBody>
                    <a:bodyPr/>
                    <a:lstStyle/>
                    <a:p>
                      <a:r>
                        <a:rPr sz="1300" b="0">
                          <a:solidFill>
                            <a:srgbClr val="222222"/>
                          </a:solidFill>
                          <a:latin typeface="Calibri"/>
                        </a:rPr>
                        <a:t>Omitted variables</a:t>
                      </a:r>
                    </a:p>
                  </a:txBody>
                  <a:tcPr marT="36576" marB="36576">
                    <a:solidFill>
                      <a:srgbClr val="FFFFFF"/>
                    </a:solidFill>
                  </a:tcPr>
                </a:tc>
              </a:tr>
              <a:tr h="804672">
                <a:tc>
                  <a:txBody>
                    <a:bodyPr/>
                    <a:lstStyle/>
                    <a:p>
                      <a:r>
                        <a:rPr sz="1300" b="0">
                          <a:solidFill>
                            <a:srgbClr val="222222"/>
                          </a:solidFill>
                          <a:latin typeface="Calibri"/>
                        </a:rPr>
                        <a:t>Multiple</a:t>
                      </a:r>
                    </a:p>
                  </a:txBody>
                  <a:tcPr marT="36576" marB="36576">
                    <a:solidFill>
                      <a:srgbClr val="F2F5F9"/>
                    </a:solidFill>
                  </a:tcPr>
                </a:tc>
                <a:tc>
                  <a:txBody>
                    <a:bodyPr/>
                    <a:lstStyle/>
                    <a:p>
                      <a:r>
                        <a:rPr sz="1300" b="0">
                          <a:solidFill>
                            <a:srgbClr val="222222"/>
                          </a:solidFill>
                          <a:latin typeface="Calibri"/>
                        </a:rPr>
                        <a:t>2 or more</a:t>
                      </a:r>
                    </a:p>
                  </a:txBody>
                  <a:tcPr marT="36576" marB="36576">
                    <a:solidFill>
                      <a:srgbClr val="F2F5F9"/>
                    </a:solidFill>
                  </a:tcPr>
                </a:tc>
                <a:tc>
                  <a:txBody>
                    <a:bodyPr/>
                    <a:lstStyle/>
                    <a:p>
                      <a:r>
                        <a:rPr sz="1300" b="0">
                          <a:solidFill>
                            <a:srgbClr val="222222"/>
                          </a:solidFill>
                          <a:latin typeface="Calibri"/>
                        </a:rPr>
                        <a:t>Plane</a:t>
                      </a:r>
                    </a:p>
                  </a:txBody>
                  <a:tcPr marT="36576" marB="36576">
                    <a:solidFill>
                      <a:srgbClr val="F2F5F9"/>
                    </a:solidFill>
                  </a:tcPr>
                </a:tc>
                <a:tc>
                  <a:txBody>
                    <a:bodyPr/>
                    <a:lstStyle/>
                    <a:p>
                      <a:r>
                        <a:rPr sz="1300" b="0">
                          <a:solidFill>
                            <a:srgbClr val="222222"/>
                          </a:solidFill>
                          <a:latin typeface="Calibri"/>
                        </a:rPr>
                        <a:t>House prices (real estate)</a:t>
                      </a:r>
                    </a:p>
                  </a:txBody>
                  <a:tcPr marT="36576" marB="36576">
                    <a:solidFill>
                      <a:srgbClr val="F2F5F9"/>
                    </a:solidFill>
                  </a:tcPr>
                </a:tc>
                <a:tc>
                  <a:txBody>
                    <a:bodyPr/>
                    <a:lstStyle/>
                    <a:p>
                      <a:r>
                        <a:rPr sz="1300" b="0">
                          <a:solidFill>
                            <a:srgbClr val="222222"/>
                          </a:solidFill>
                          <a:latin typeface="Calibri"/>
                        </a:rPr>
                        <a:t>Controlling for several causes</a:t>
                      </a:r>
                    </a:p>
                  </a:txBody>
                  <a:tcPr marT="36576" marB="36576">
                    <a:solidFill>
                      <a:srgbClr val="F2F5F9"/>
                    </a:solidFill>
                  </a:tcPr>
                </a:tc>
                <a:tc>
                  <a:txBody>
                    <a:bodyPr/>
                    <a:lstStyle/>
                    <a:p>
                      <a:r>
                        <a:rPr sz="1300" b="0">
                          <a:solidFill>
                            <a:srgbClr val="222222"/>
                          </a:solidFill>
                          <a:latin typeface="Calibri"/>
                        </a:rPr>
                        <a:t>Multicollinearity, overfitting</a:t>
                      </a:r>
                    </a:p>
                  </a:txBody>
                  <a:tcPr marT="36576" marB="36576">
                    <a:solidFill>
                      <a:srgbClr val="F2F5F9"/>
                    </a:solidFill>
                  </a:tcPr>
                </a:tc>
              </a:tr>
              <a:tr h="804672">
                <a:tc>
                  <a:txBody>
                    <a:bodyPr/>
                    <a:lstStyle/>
                    <a:p>
                      <a:r>
                        <a:rPr sz="1300" b="0">
                          <a:solidFill>
                            <a:srgbClr val="222222"/>
                          </a:solidFill>
                          <a:latin typeface="Calibri"/>
                        </a:rPr>
                        <a:t>Polynomial</a:t>
                      </a:r>
                    </a:p>
                  </a:txBody>
                  <a:tcPr marT="36576" marB="36576">
                    <a:solidFill>
                      <a:srgbClr val="FFFFFF"/>
                    </a:solidFill>
                  </a:tcPr>
                </a:tc>
                <a:tc>
                  <a:txBody>
                    <a:bodyPr/>
                    <a:lstStyle/>
                    <a:p>
                      <a:r>
                        <a:rPr sz="1300" b="0">
                          <a:solidFill>
                            <a:srgbClr val="222222"/>
                          </a:solidFill>
                          <a:latin typeface="Calibri"/>
                        </a:rPr>
                        <a:t>1 + its powers</a:t>
                      </a:r>
                    </a:p>
                  </a:txBody>
                  <a:tcPr marT="36576" marB="36576">
                    <a:solidFill>
                      <a:srgbClr val="FFFFFF"/>
                    </a:solidFill>
                  </a:tcPr>
                </a:tc>
                <a:tc>
                  <a:txBody>
                    <a:bodyPr/>
                    <a:lstStyle/>
                    <a:p>
                      <a:r>
                        <a:rPr sz="1300" b="0">
                          <a:solidFill>
                            <a:srgbClr val="222222"/>
                          </a:solidFill>
                          <a:latin typeface="Calibri"/>
                        </a:rPr>
                        <a:t>Curve</a:t>
                      </a:r>
                    </a:p>
                  </a:txBody>
                  <a:tcPr marT="36576" marB="36576">
                    <a:solidFill>
                      <a:srgbClr val="FFFFFF"/>
                    </a:solidFill>
                  </a:tcPr>
                </a:tc>
                <a:tc>
                  <a:txBody>
                    <a:bodyPr/>
                    <a:lstStyle/>
                    <a:p>
                      <a:r>
                        <a:rPr sz="1300" b="0">
                          <a:solidFill>
                            <a:srgbClr val="222222"/>
                          </a:solidFill>
                          <a:latin typeface="Calibri"/>
                        </a:rPr>
                        <a:t>Dose vs response (pharmacology)</a:t>
                      </a:r>
                    </a:p>
                  </a:txBody>
                  <a:tcPr marT="36576" marB="36576">
                    <a:solidFill>
                      <a:srgbClr val="FFFFFF"/>
                    </a:solidFill>
                  </a:tcPr>
                </a:tc>
                <a:tc>
                  <a:txBody>
                    <a:bodyPr/>
                    <a:lstStyle/>
                    <a:p>
                      <a:r>
                        <a:rPr sz="1300" b="0">
                          <a:solidFill>
                            <a:srgbClr val="222222"/>
                          </a:solidFill>
                          <a:latin typeface="Calibri"/>
                        </a:rPr>
                        <a:t>Non-linear trends</a:t>
                      </a:r>
                    </a:p>
                  </a:txBody>
                  <a:tcPr marT="36576" marB="36576">
                    <a:solidFill>
                      <a:srgbClr val="FFFFFF"/>
                    </a:solidFill>
                  </a:tcPr>
                </a:tc>
                <a:tc>
                  <a:txBody>
                    <a:bodyPr/>
                    <a:lstStyle/>
                    <a:p>
                      <a:r>
                        <a:rPr sz="1300" b="0">
                          <a:solidFill>
                            <a:srgbClr val="222222"/>
                          </a:solidFill>
                          <a:latin typeface="Calibri"/>
                        </a:rPr>
                        <a:t>Overfitting, bad extrapolation</a:t>
                      </a:r>
                    </a:p>
                  </a:txBody>
                  <a:tcPr marT="36576" marB="36576">
                    <a:solidFill>
                      <a:srgbClr val="FFFFFF"/>
                    </a:solidFill>
                  </a:tcPr>
                </a:tc>
              </a:tr>
              <a:tr h="804672">
                <a:tc>
                  <a:txBody>
                    <a:bodyPr/>
                    <a:lstStyle/>
                    <a:p>
                      <a:r>
                        <a:rPr sz="1300" b="0">
                          <a:solidFill>
                            <a:srgbClr val="222222"/>
                          </a:solidFill>
                          <a:latin typeface="Calibri"/>
                        </a:rPr>
                        <a:t>Ridge / Lasso</a:t>
                      </a:r>
                    </a:p>
                  </a:txBody>
                  <a:tcPr marT="36576" marB="36576">
                    <a:solidFill>
                      <a:srgbClr val="F2F5F9"/>
                    </a:solidFill>
                  </a:tcPr>
                </a:tc>
                <a:tc>
                  <a:txBody>
                    <a:bodyPr/>
                    <a:lstStyle/>
                    <a:p>
                      <a:r>
                        <a:rPr sz="1300" b="0">
                          <a:solidFill>
                            <a:srgbClr val="222222"/>
                          </a:solidFill>
                          <a:latin typeface="Calibri"/>
                        </a:rPr>
                        <a:t>Many</a:t>
                      </a:r>
                    </a:p>
                  </a:txBody>
                  <a:tcPr marT="36576" marB="36576">
                    <a:solidFill>
                      <a:srgbClr val="F2F5F9"/>
                    </a:solidFill>
                  </a:tcPr>
                </a:tc>
                <a:tc>
                  <a:txBody>
                    <a:bodyPr/>
                    <a:lstStyle/>
                    <a:p>
                      <a:r>
                        <a:rPr sz="1300" b="0">
                          <a:solidFill>
                            <a:srgbClr val="222222"/>
                          </a:solidFill>
                          <a:latin typeface="Calibri"/>
                        </a:rPr>
                        <a:t>Plane, shrunk</a:t>
                      </a:r>
                    </a:p>
                  </a:txBody>
                  <a:tcPr marT="36576" marB="36576">
                    <a:solidFill>
                      <a:srgbClr val="F2F5F9"/>
                    </a:solidFill>
                  </a:tcPr>
                </a:tc>
                <a:tc>
                  <a:txBody>
                    <a:bodyPr/>
                    <a:lstStyle/>
                    <a:p>
                      <a:r>
                        <a:rPr sz="1300" b="0">
                          <a:solidFill>
                            <a:srgbClr val="222222"/>
                          </a:solidFill>
                          <a:latin typeface="Calibri"/>
                        </a:rPr>
                        <a:t>50 marketing channels (business)</a:t>
                      </a:r>
                    </a:p>
                  </a:txBody>
                  <a:tcPr marT="36576" marB="36576">
                    <a:solidFill>
                      <a:srgbClr val="F2F5F9"/>
                    </a:solidFill>
                  </a:tcPr>
                </a:tc>
                <a:tc>
                  <a:txBody>
                    <a:bodyPr/>
                    <a:lstStyle/>
                    <a:p>
                      <a:r>
                        <a:rPr sz="1300" b="0">
                          <a:solidFill>
                            <a:srgbClr val="222222"/>
                          </a:solidFill>
                          <a:latin typeface="Calibri"/>
                        </a:rPr>
                        <a:t>Many correlated predictors</a:t>
                      </a:r>
                    </a:p>
                  </a:txBody>
                  <a:tcPr marT="36576" marB="36576">
                    <a:solidFill>
                      <a:srgbClr val="F2F5F9"/>
                    </a:solidFill>
                  </a:tcPr>
                </a:tc>
                <a:tc>
                  <a:txBody>
                    <a:bodyPr/>
                    <a:lstStyle/>
                    <a:p>
                      <a:r>
                        <a:rPr sz="1300" b="0">
                          <a:solidFill>
                            <a:srgbClr val="222222"/>
                          </a:solidFill>
                          <a:latin typeface="Calibri"/>
                        </a:rPr>
                        <a:t>Harder to interpret</a:t>
                      </a:r>
                    </a:p>
                  </a:txBody>
                  <a:tcPr marT="36576" marB="36576">
                    <a:solidFill>
                      <a:srgbClr val="F2F5F9"/>
                    </a:solidFill>
                  </a:tcPr>
                </a:tc>
              </a:tr>
            </a:tbl>
          </a:graphicData>
        </a:graphic>
      </p:graphicFrame>
      <p:sp>
        <p:nvSpPr>
          <p:cNvPr id="8" name="TextBox 7"/>
          <p:cNvSpPr txBox="1"/>
          <p:nvPr/>
        </p:nvSpPr>
        <p:spPr>
          <a:xfrm>
            <a:off x="457200" y="5486400"/>
            <a:ext cx="11247120" cy="822960"/>
          </a:xfrm>
          <a:prstGeom prst="rect">
            <a:avLst/>
          </a:prstGeom>
          <a:noFill/>
        </p:spPr>
        <p:txBody>
          <a:bodyPr wrap="square" anchor="t">
            <a:spAutoFit/>
          </a:bodyPr>
          <a:lstStyle/>
          <a:p>
            <a:pPr algn="ctr"/>
            <a:r>
              <a:rPr sz="1700" b="1">
                <a:solidFill>
                  <a:srgbClr val="2E5A88"/>
                </a:solidFill>
                <a:latin typeface="Calibri"/>
              </a:rPr>
              <a:t>Rule of thumb: pick the simplest model that passes the LINE checks and has the lowest AIC / highest adjusted R².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Linear vs Logistic Regression : the Core Difference</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3 : Linear vs Logistic</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10</a:t>
            </a:r>
          </a:p>
        </p:txBody>
      </p:sp>
      <p:pic>
        <p:nvPicPr>
          <p:cNvPr id="7" name="Picture 6" descr="linear_vs_logistic.png"/>
          <p:cNvPicPr>
            <a:picLocks noChangeAspect="1"/>
          </p:cNvPicPr>
          <p:nvPr/>
        </p:nvPicPr>
        <p:blipFill>
          <a:blip r:embed="rId3"/>
          <a:stretch>
            <a:fillRect/>
          </a:stretch>
        </p:blipFill>
        <p:spPr>
          <a:xfrm>
            <a:off x="457200" y="1280160"/>
            <a:ext cx="5852160" cy="3511296"/>
          </a:xfrm>
          <a:prstGeom prst="rect">
            <a:avLst/>
          </a:prstGeom>
        </p:spPr>
      </p:pic>
      <p:graphicFrame>
        <p:nvGraphicFramePr>
          <p:cNvPr id="8" name="Table 7"/>
          <p:cNvGraphicFramePr>
            <a:graphicFrameLocks noGrp="1"/>
          </p:cNvGraphicFramePr>
          <p:nvPr/>
        </p:nvGraphicFramePr>
        <p:xfrm>
          <a:off x="6492240" y="1280160"/>
          <a:ext cx="5303520" cy="4846320"/>
        </p:xfrm>
        <a:graphic>
          <a:graphicData uri="http://schemas.openxmlformats.org/drawingml/2006/table">
            <a:tbl>
              <a:tblPr firstRow="1" bandRow="1">
                <a:tableStyleId>{5C22544A-7EE6-4342-B048-85BDC9FD1C3A}</a:tableStyleId>
              </a:tblPr>
              <a:tblGrid>
                <a:gridCol w="1280160"/>
                <a:gridCol w="1920240"/>
                <a:gridCol w="2103120"/>
              </a:tblGrid>
              <a:tr h="538480">
                <a:tc>
                  <a:txBody>
                    <a:bodyPr/>
                    <a:lstStyle/>
                    <a:p>
                      <a:r>
                        <a:rPr sz="1200" b="1">
                          <a:solidFill>
                            <a:srgbClr val="FFFFFF"/>
                          </a:solidFill>
                          <a:latin typeface="Calibri"/>
                        </a:rPr>
                        <a:t/>
                      </a:r>
                    </a:p>
                  </a:txBody>
                  <a:tcPr marT="36576" marB="36576">
                    <a:solidFill>
                      <a:srgbClr val="2E5A88"/>
                    </a:solidFill>
                  </a:tcPr>
                </a:tc>
                <a:tc>
                  <a:txBody>
                    <a:bodyPr/>
                    <a:lstStyle/>
                    <a:p>
                      <a:r>
                        <a:rPr sz="1200" b="1">
                          <a:solidFill>
                            <a:srgbClr val="FFFFFF"/>
                          </a:solidFill>
                          <a:latin typeface="Calibri"/>
                        </a:rPr>
                        <a:t>Linear</a:t>
                      </a:r>
                    </a:p>
                  </a:txBody>
                  <a:tcPr marT="36576" marB="36576">
                    <a:solidFill>
                      <a:srgbClr val="2E5A88"/>
                    </a:solidFill>
                  </a:tcPr>
                </a:tc>
                <a:tc>
                  <a:txBody>
                    <a:bodyPr/>
                    <a:lstStyle/>
                    <a:p>
                      <a:r>
                        <a:rPr sz="1200" b="1">
                          <a:solidFill>
                            <a:srgbClr val="FFFFFF"/>
                          </a:solidFill>
                          <a:latin typeface="Calibri"/>
                        </a:rPr>
                        <a:t>Logistic</a:t>
                      </a:r>
                    </a:p>
                  </a:txBody>
                  <a:tcPr marT="36576" marB="36576">
                    <a:solidFill>
                      <a:srgbClr val="2E5A88"/>
                    </a:solidFill>
                  </a:tcPr>
                </a:tc>
              </a:tr>
              <a:tr h="538480">
                <a:tc>
                  <a:txBody>
                    <a:bodyPr/>
                    <a:lstStyle/>
                    <a:p>
                      <a:r>
                        <a:rPr sz="1200" b="0">
                          <a:solidFill>
                            <a:srgbClr val="222222"/>
                          </a:solidFill>
                          <a:latin typeface="Calibri"/>
                        </a:rPr>
                        <a:t>Outcome y</a:t>
                      </a:r>
                    </a:p>
                  </a:txBody>
                  <a:tcPr marT="36576" marB="36576">
                    <a:solidFill>
                      <a:srgbClr val="FFFFFF"/>
                    </a:solidFill>
                  </a:tcPr>
                </a:tc>
                <a:tc>
                  <a:txBody>
                    <a:bodyPr/>
                    <a:lstStyle/>
                    <a:p>
                      <a:r>
                        <a:rPr sz="1200" b="0">
                          <a:solidFill>
                            <a:srgbClr val="222222"/>
                          </a:solidFill>
                          <a:latin typeface="Calibri"/>
                        </a:rPr>
                        <a:t>Numeric (price, mpg)</a:t>
                      </a:r>
                    </a:p>
                  </a:txBody>
                  <a:tcPr marT="36576" marB="36576">
                    <a:solidFill>
                      <a:srgbClr val="FFFFFF"/>
                    </a:solidFill>
                  </a:tcPr>
                </a:tc>
                <a:tc>
                  <a:txBody>
                    <a:bodyPr/>
                    <a:lstStyle/>
                    <a:p>
                      <a:r>
                        <a:rPr sz="1200" b="0">
                          <a:solidFill>
                            <a:srgbClr val="222222"/>
                          </a:solidFill>
                          <a:latin typeface="Calibri"/>
                        </a:rPr>
                        <a:t>Yes / No  (0 / 1)</a:t>
                      </a:r>
                    </a:p>
                  </a:txBody>
                  <a:tcPr marT="36576" marB="36576">
                    <a:solidFill>
                      <a:srgbClr val="FFFFFF"/>
                    </a:solidFill>
                  </a:tcPr>
                </a:tc>
              </a:tr>
              <a:tr h="538480">
                <a:tc>
                  <a:txBody>
                    <a:bodyPr/>
                    <a:lstStyle/>
                    <a:p>
                      <a:r>
                        <a:rPr sz="1200" b="0">
                          <a:solidFill>
                            <a:srgbClr val="222222"/>
                          </a:solidFill>
                          <a:latin typeface="Calibri"/>
                        </a:rPr>
                        <a:t>Predicts</a:t>
                      </a:r>
                    </a:p>
                  </a:txBody>
                  <a:tcPr marT="36576" marB="36576">
                    <a:solidFill>
                      <a:srgbClr val="F2F5F9"/>
                    </a:solidFill>
                  </a:tcPr>
                </a:tc>
                <a:tc>
                  <a:txBody>
                    <a:bodyPr/>
                    <a:lstStyle/>
                    <a:p>
                      <a:r>
                        <a:rPr sz="1200" b="0">
                          <a:solidFill>
                            <a:srgbClr val="222222"/>
                          </a:solidFill>
                          <a:latin typeface="Calibri"/>
                        </a:rPr>
                        <a:t>Value of y</a:t>
                      </a:r>
                    </a:p>
                  </a:txBody>
                  <a:tcPr marT="36576" marB="36576">
                    <a:solidFill>
                      <a:srgbClr val="F2F5F9"/>
                    </a:solidFill>
                  </a:tcPr>
                </a:tc>
                <a:tc>
                  <a:txBody>
                    <a:bodyPr/>
                    <a:lstStyle/>
                    <a:p>
                      <a:r>
                        <a:rPr sz="1200" b="0">
                          <a:solidFill>
                            <a:srgbClr val="222222"/>
                          </a:solidFill>
                          <a:latin typeface="Calibri"/>
                        </a:rPr>
                        <a:t>Probability y = 1</a:t>
                      </a:r>
                    </a:p>
                  </a:txBody>
                  <a:tcPr marT="36576" marB="36576">
                    <a:solidFill>
                      <a:srgbClr val="F2F5F9"/>
                    </a:solidFill>
                  </a:tcPr>
                </a:tc>
              </a:tr>
              <a:tr h="538480">
                <a:tc>
                  <a:txBody>
                    <a:bodyPr/>
                    <a:lstStyle/>
                    <a:p>
                      <a:r>
                        <a:rPr sz="1200" b="0">
                          <a:solidFill>
                            <a:srgbClr val="222222"/>
                          </a:solidFill>
                          <a:latin typeface="Calibri"/>
                        </a:rPr>
                        <a:t>Equation</a:t>
                      </a:r>
                    </a:p>
                  </a:txBody>
                  <a:tcPr marT="36576" marB="36576">
                    <a:solidFill>
                      <a:srgbClr val="FFFFFF"/>
                    </a:solidFill>
                  </a:tcPr>
                </a:tc>
                <a:tc>
                  <a:txBody>
                    <a:bodyPr/>
                    <a:lstStyle/>
                    <a:p>
                      <a:r>
                        <a:rPr sz="1200" b="0">
                          <a:solidFill>
                            <a:srgbClr val="222222"/>
                          </a:solidFill>
                          <a:latin typeface="Calibri"/>
                        </a:rPr>
                        <a:t>y = b₀ + b₁x</a:t>
                      </a:r>
                    </a:p>
                  </a:txBody>
                  <a:tcPr marT="36576" marB="36576">
                    <a:solidFill>
                      <a:srgbClr val="FFFFFF"/>
                    </a:solidFill>
                  </a:tcPr>
                </a:tc>
                <a:tc>
                  <a:txBody>
                    <a:bodyPr/>
                    <a:lstStyle/>
                    <a:p>
                      <a:r>
                        <a:rPr sz="1200" b="0">
                          <a:solidFill>
                            <a:srgbClr val="222222"/>
                          </a:solidFill>
                          <a:latin typeface="Calibri"/>
                        </a:rPr>
                        <a:t>log(p / (1 − p)) = b₀ + b₁x</a:t>
                      </a:r>
                    </a:p>
                  </a:txBody>
                  <a:tcPr marT="36576" marB="36576">
                    <a:solidFill>
                      <a:srgbClr val="FFFFFF"/>
                    </a:solidFill>
                  </a:tcPr>
                </a:tc>
              </a:tr>
              <a:tr h="538480">
                <a:tc>
                  <a:txBody>
                    <a:bodyPr/>
                    <a:lstStyle/>
                    <a:p>
                      <a:r>
                        <a:rPr sz="1200" b="0">
                          <a:solidFill>
                            <a:srgbClr val="222222"/>
                          </a:solidFill>
                          <a:latin typeface="Calibri"/>
                        </a:rPr>
                        <a:t>Shape</a:t>
                      </a:r>
                    </a:p>
                  </a:txBody>
                  <a:tcPr marT="36576" marB="36576">
                    <a:solidFill>
                      <a:srgbClr val="F2F5F9"/>
                    </a:solidFill>
                  </a:tcPr>
                </a:tc>
                <a:tc>
                  <a:txBody>
                    <a:bodyPr/>
                    <a:lstStyle/>
                    <a:p>
                      <a:r>
                        <a:rPr sz="1200" b="0">
                          <a:solidFill>
                            <a:srgbClr val="222222"/>
                          </a:solidFill>
                          <a:latin typeface="Calibri"/>
                        </a:rPr>
                        <a:t>Straight line</a:t>
                      </a:r>
                    </a:p>
                  </a:txBody>
                  <a:tcPr marT="36576" marB="36576">
                    <a:solidFill>
                      <a:srgbClr val="F2F5F9"/>
                    </a:solidFill>
                  </a:tcPr>
                </a:tc>
                <a:tc>
                  <a:txBody>
                    <a:bodyPr/>
                    <a:lstStyle/>
                    <a:p>
                      <a:r>
                        <a:rPr sz="1200" b="0">
                          <a:solidFill>
                            <a:srgbClr val="222222"/>
                          </a:solidFill>
                          <a:latin typeface="Calibri"/>
                        </a:rPr>
                        <a:t>S-curve between 0 and 1</a:t>
                      </a:r>
                    </a:p>
                  </a:txBody>
                  <a:tcPr marT="36576" marB="36576">
                    <a:solidFill>
                      <a:srgbClr val="F2F5F9"/>
                    </a:solidFill>
                  </a:tcPr>
                </a:tc>
              </a:tr>
              <a:tr h="538480">
                <a:tc>
                  <a:txBody>
                    <a:bodyPr/>
                    <a:lstStyle/>
                    <a:p>
                      <a:r>
                        <a:rPr sz="1200" b="0">
                          <a:solidFill>
                            <a:srgbClr val="222222"/>
                          </a:solidFill>
                          <a:latin typeface="Calibri"/>
                        </a:rPr>
                        <a:t>Fitting</a:t>
                      </a:r>
                    </a:p>
                  </a:txBody>
                  <a:tcPr marT="36576" marB="36576">
                    <a:solidFill>
                      <a:srgbClr val="FFFFFF"/>
                    </a:solidFill>
                  </a:tcPr>
                </a:tc>
                <a:tc>
                  <a:txBody>
                    <a:bodyPr/>
                    <a:lstStyle/>
                    <a:p>
                      <a:r>
                        <a:rPr sz="1200" b="0">
                          <a:solidFill>
                            <a:srgbClr val="222222"/>
                          </a:solidFill>
                          <a:latin typeface="Calibri"/>
                        </a:rPr>
                        <a:t>Least squares</a:t>
                      </a:r>
                    </a:p>
                  </a:txBody>
                  <a:tcPr marT="36576" marB="36576">
                    <a:solidFill>
                      <a:srgbClr val="FFFFFF"/>
                    </a:solidFill>
                  </a:tcPr>
                </a:tc>
                <a:tc>
                  <a:txBody>
                    <a:bodyPr/>
                    <a:lstStyle/>
                    <a:p>
                      <a:r>
                        <a:rPr sz="1200" b="0">
                          <a:solidFill>
                            <a:srgbClr val="222222"/>
                          </a:solidFill>
                          <a:latin typeface="Calibri"/>
                        </a:rPr>
                        <a:t>Maximum likelihood</a:t>
                      </a:r>
                    </a:p>
                  </a:txBody>
                  <a:tcPr marT="36576" marB="36576">
                    <a:solidFill>
                      <a:srgbClr val="FFFFFF"/>
                    </a:solidFill>
                  </a:tcPr>
                </a:tc>
              </a:tr>
              <a:tr h="538480">
                <a:tc>
                  <a:txBody>
                    <a:bodyPr/>
                    <a:lstStyle/>
                    <a:p>
                      <a:r>
                        <a:rPr sz="1200" b="0">
                          <a:solidFill>
                            <a:srgbClr val="222222"/>
                          </a:solidFill>
                          <a:latin typeface="Calibri"/>
                        </a:rPr>
                        <a:t>Coefficient</a:t>
                      </a:r>
                    </a:p>
                  </a:txBody>
                  <a:tcPr marT="36576" marB="36576">
                    <a:solidFill>
                      <a:srgbClr val="F2F5F9"/>
                    </a:solidFill>
                  </a:tcPr>
                </a:tc>
                <a:tc>
                  <a:txBody>
                    <a:bodyPr/>
                    <a:lstStyle/>
                    <a:p>
                      <a:r>
                        <a:rPr sz="1200" b="0">
                          <a:solidFill>
                            <a:srgbClr val="222222"/>
                          </a:solidFill>
                          <a:latin typeface="Calibri"/>
                        </a:rPr>
                        <a:t>Change in y per unit x</a:t>
                      </a:r>
                    </a:p>
                  </a:txBody>
                  <a:tcPr marT="36576" marB="36576">
                    <a:solidFill>
                      <a:srgbClr val="F2F5F9"/>
                    </a:solidFill>
                  </a:tcPr>
                </a:tc>
                <a:tc>
                  <a:txBody>
                    <a:bodyPr/>
                    <a:lstStyle/>
                    <a:p>
                      <a:r>
                        <a:rPr sz="1200" b="0">
                          <a:solidFill>
                            <a:srgbClr val="222222"/>
                          </a:solidFill>
                          <a:latin typeface="Calibri"/>
                        </a:rPr>
                        <a:t>exp(b) = odds ratio</a:t>
                      </a:r>
                    </a:p>
                  </a:txBody>
                  <a:tcPr marT="36576" marB="36576">
                    <a:solidFill>
                      <a:srgbClr val="F2F5F9"/>
                    </a:solidFill>
                  </a:tcPr>
                </a:tc>
              </a:tr>
              <a:tr h="538480">
                <a:tc>
                  <a:txBody>
                    <a:bodyPr/>
                    <a:lstStyle/>
                    <a:p>
                      <a:r>
                        <a:rPr sz="1200" b="0">
                          <a:solidFill>
                            <a:srgbClr val="222222"/>
                          </a:solidFill>
                          <a:latin typeface="Calibri"/>
                        </a:rPr>
                        <a:t>R function</a:t>
                      </a:r>
                    </a:p>
                  </a:txBody>
                  <a:tcPr marT="36576" marB="36576">
                    <a:solidFill>
                      <a:srgbClr val="FFFFFF"/>
                    </a:solidFill>
                  </a:tcPr>
                </a:tc>
                <a:tc>
                  <a:txBody>
                    <a:bodyPr/>
                    <a:lstStyle/>
                    <a:p>
                      <a:r>
                        <a:rPr sz="1200" b="0">
                          <a:solidFill>
                            <a:srgbClr val="222222"/>
                          </a:solidFill>
                          <a:latin typeface="Calibri"/>
                        </a:rPr>
                        <a:t>lm()</a:t>
                      </a:r>
                    </a:p>
                  </a:txBody>
                  <a:tcPr marT="36576" marB="36576">
                    <a:solidFill>
                      <a:srgbClr val="FFFFFF"/>
                    </a:solidFill>
                  </a:tcPr>
                </a:tc>
                <a:tc>
                  <a:txBody>
                    <a:bodyPr/>
                    <a:lstStyle/>
                    <a:p>
                      <a:r>
                        <a:rPr sz="1200" b="0">
                          <a:solidFill>
                            <a:srgbClr val="222222"/>
                          </a:solidFill>
                          <a:latin typeface="Calibri"/>
                        </a:rPr>
                        <a:t>glm(family = binomial)</a:t>
                      </a:r>
                    </a:p>
                  </a:txBody>
                  <a:tcPr marT="36576" marB="36576">
                    <a:solidFill>
                      <a:srgbClr val="FFFFFF"/>
                    </a:solidFill>
                  </a:tcPr>
                </a:tc>
              </a:tr>
              <a:tr h="538480">
                <a:tc>
                  <a:txBody>
                    <a:bodyPr/>
                    <a:lstStyle/>
                    <a:p>
                      <a:r>
                        <a:rPr sz="1200" b="0">
                          <a:solidFill>
                            <a:srgbClr val="222222"/>
                          </a:solidFill>
                          <a:latin typeface="Calibri"/>
                        </a:rPr>
                        <a:t>Evaluate</a:t>
                      </a:r>
                    </a:p>
                  </a:txBody>
                  <a:tcPr marT="36576" marB="36576">
                    <a:solidFill>
                      <a:srgbClr val="F2F5F9"/>
                    </a:solidFill>
                  </a:tcPr>
                </a:tc>
                <a:tc>
                  <a:txBody>
                    <a:bodyPr/>
                    <a:lstStyle/>
                    <a:p>
                      <a:r>
                        <a:rPr sz="1200" b="0">
                          <a:solidFill>
                            <a:srgbClr val="222222"/>
                          </a:solidFill>
                          <a:latin typeface="Calibri"/>
                        </a:rPr>
                        <a:t>R², RMSE</a:t>
                      </a:r>
                    </a:p>
                  </a:txBody>
                  <a:tcPr marT="36576" marB="36576">
                    <a:solidFill>
                      <a:srgbClr val="F2F5F9"/>
                    </a:solidFill>
                  </a:tcPr>
                </a:tc>
                <a:tc>
                  <a:txBody>
                    <a:bodyPr/>
                    <a:lstStyle/>
                    <a:p>
                      <a:r>
                        <a:rPr sz="1200" b="0">
                          <a:solidFill>
                            <a:srgbClr val="222222"/>
                          </a:solidFill>
                          <a:latin typeface="Calibri"/>
                        </a:rPr>
                        <a:t>Accuracy, confusion matrix</a:t>
                      </a:r>
                    </a:p>
                  </a:txBody>
                  <a:tcPr marT="36576" marB="36576">
                    <a:solidFill>
                      <a:srgbClr val="F2F5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Real-Life Example : a Bank and its Customers</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3 : Linear vs Logistic</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11</a:t>
            </a:r>
          </a:p>
        </p:txBody>
      </p:sp>
      <p:sp>
        <p:nvSpPr>
          <p:cNvPr id="7" name="TextBox 6"/>
          <p:cNvSpPr txBox="1"/>
          <p:nvPr/>
        </p:nvSpPr>
        <p:spPr>
          <a:xfrm>
            <a:off x="548640" y="1280160"/>
            <a:ext cx="10972800" cy="548640"/>
          </a:xfrm>
          <a:prstGeom prst="rect">
            <a:avLst/>
          </a:prstGeom>
          <a:noFill/>
        </p:spPr>
        <p:txBody>
          <a:bodyPr wrap="square" anchor="t">
            <a:spAutoFit/>
          </a:bodyPr>
          <a:lstStyle/>
          <a:p>
            <a:pPr algn="l"/>
            <a:r>
              <a:rPr sz="1800" b="1">
                <a:solidFill>
                  <a:srgbClr val="1F3A5F"/>
                </a:solidFill>
                <a:latin typeface="Calibri"/>
              </a:rPr>
              <a:t>A bank records for each customer:  income,  age,  credit score,  existing debt</a:t>
            </a:r>
          </a:p>
        </p:txBody>
      </p:sp>
      <p:sp>
        <p:nvSpPr>
          <p:cNvPr id="8" name="Rounded Rectangle 7"/>
          <p:cNvSpPr/>
          <p:nvPr/>
        </p:nvSpPr>
        <p:spPr>
          <a:xfrm>
            <a:off x="548640" y="2011680"/>
            <a:ext cx="5394960" cy="3566160"/>
          </a:xfrm>
          <a:prstGeom prst="roundRect">
            <a:avLst/>
          </a:prstGeom>
          <a:solidFill>
            <a:srgbClr val="F2F5F9"/>
          </a:solidFill>
          <a:ln>
            <a:solidFill>
              <a:srgbClr val="2E5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11680"/>
            <a:ext cx="5394960" cy="640080"/>
          </a:xfrm>
          <a:prstGeom prst="roundRect">
            <a:avLst/>
          </a:prstGeom>
          <a:solidFill>
            <a:srgbClr val="2E5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11680"/>
            <a:ext cx="5394960" cy="640080"/>
          </a:xfrm>
          <a:prstGeom prst="rect">
            <a:avLst/>
          </a:prstGeom>
          <a:noFill/>
        </p:spPr>
        <p:txBody>
          <a:bodyPr wrap="square" anchor="ctr">
            <a:spAutoFit/>
          </a:bodyPr>
          <a:lstStyle/>
          <a:p>
            <a:pPr algn="ctr"/>
            <a:r>
              <a:rPr sz="1800" b="1">
                <a:solidFill>
                  <a:srgbClr val="FFFFFF"/>
                </a:solidFill>
                <a:latin typeface="Calibri"/>
              </a:rPr>
              <a:t>Question A  →  LINEAR</a:t>
            </a:r>
          </a:p>
        </p:txBody>
      </p:sp>
      <p:sp>
        <p:nvSpPr>
          <p:cNvPr id="11" name="TextBox 10"/>
          <p:cNvSpPr txBox="1"/>
          <p:nvPr/>
        </p:nvSpPr>
        <p:spPr>
          <a:xfrm>
            <a:off x="731520" y="2788920"/>
            <a:ext cx="5029200" cy="1280160"/>
          </a:xfrm>
          <a:prstGeom prst="rect">
            <a:avLst/>
          </a:prstGeom>
          <a:noFill/>
        </p:spPr>
        <p:txBody>
          <a:bodyPr wrap="square" anchor="t">
            <a:spAutoFit/>
          </a:bodyPr>
          <a:lstStyle/>
          <a:p>
            <a:pPr algn="l"/>
            <a:r>
              <a:rPr sz="1500" b="0">
                <a:solidFill>
                  <a:srgbClr val="222222"/>
                </a:solidFill>
                <a:latin typeface="Calibri"/>
              </a:rPr>
              <a:t>“How much will this customer spend on their card next month?”</a:t>
            </a:r>
          </a:p>
          <a:p>
            <a:pPr algn="l"/>
            <a:r>
              <a:rPr sz="1500" b="0">
                <a:solidFill>
                  <a:srgbClr val="222222"/>
                </a:solidFill>
                <a:latin typeface="Calibri"/>
              </a:rPr>
              <a:t>Outcome = amount in rupees (a number)</a:t>
            </a:r>
          </a:p>
        </p:txBody>
      </p:sp>
      <p:sp>
        <p:nvSpPr>
          <p:cNvPr id="12" name="Rectangle 11"/>
          <p:cNvSpPr/>
          <p:nvPr/>
        </p:nvSpPr>
        <p:spPr>
          <a:xfrm>
            <a:off x="731520" y="4114800"/>
            <a:ext cx="5029200" cy="100584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200">
                <a:solidFill>
                  <a:srgbClr val="222222"/>
                </a:solidFill>
                <a:latin typeface="Consolas"/>
              </a:rPr>
              <a:t>lm(spend ~ income + age + score + debt, data = bank)</a:t>
            </a:r>
          </a:p>
        </p:txBody>
      </p:sp>
      <p:sp>
        <p:nvSpPr>
          <p:cNvPr id="13" name="Rounded Rectangle 12"/>
          <p:cNvSpPr/>
          <p:nvPr/>
        </p:nvSpPr>
        <p:spPr>
          <a:xfrm>
            <a:off x="6217920" y="2011680"/>
            <a:ext cx="5394960" cy="3566160"/>
          </a:xfrm>
          <a:prstGeom prst="roundRect">
            <a:avLst/>
          </a:prstGeom>
          <a:solidFill>
            <a:srgbClr val="F2F5F9"/>
          </a:solidFill>
          <a:ln>
            <a:solidFill>
              <a:srgbClr val="D03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2011680"/>
            <a:ext cx="5394960" cy="640080"/>
          </a:xfrm>
          <a:prstGeom prst="roundRect">
            <a:avLst/>
          </a:prstGeom>
          <a:solidFill>
            <a:srgbClr val="D0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011680"/>
            <a:ext cx="5394960" cy="640080"/>
          </a:xfrm>
          <a:prstGeom prst="rect">
            <a:avLst/>
          </a:prstGeom>
          <a:noFill/>
        </p:spPr>
        <p:txBody>
          <a:bodyPr wrap="square" anchor="ctr">
            <a:spAutoFit/>
          </a:bodyPr>
          <a:lstStyle/>
          <a:p>
            <a:pPr algn="ctr"/>
            <a:r>
              <a:rPr sz="1800" b="1">
                <a:solidFill>
                  <a:srgbClr val="FFFFFF"/>
                </a:solidFill>
                <a:latin typeface="Calibri"/>
              </a:rPr>
              <a:t>Question B  →  LOGISTIC</a:t>
            </a:r>
          </a:p>
        </p:txBody>
      </p:sp>
      <p:sp>
        <p:nvSpPr>
          <p:cNvPr id="16" name="TextBox 15"/>
          <p:cNvSpPr txBox="1"/>
          <p:nvPr/>
        </p:nvSpPr>
        <p:spPr>
          <a:xfrm>
            <a:off x="6400800" y="2788920"/>
            <a:ext cx="5029200" cy="1280160"/>
          </a:xfrm>
          <a:prstGeom prst="rect">
            <a:avLst/>
          </a:prstGeom>
          <a:noFill/>
        </p:spPr>
        <p:txBody>
          <a:bodyPr wrap="square" anchor="t">
            <a:spAutoFit/>
          </a:bodyPr>
          <a:lstStyle/>
          <a:p>
            <a:pPr algn="l"/>
            <a:r>
              <a:rPr sz="1500" b="0">
                <a:solidFill>
                  <a:srgbClr val="222222"/>
                </a:solidFill>
                <a:latin typeface="Calibri"/>
              </a:rPr>
              <a:t>“Will this customer default on the loan?”</a:t>
            </a:r>
          </a:p>
          <a:p>
            <a:pPr algn="l"/>
            <a:r>
              <a:rPr sz="1500" b="0">
                <a:solidFill>
                  <a:srgbClr val="222222"/>
                </a:solidFill>
                <a:latin typeface="Calibri"/>
              </a:rPr>
              <a:t>Outcome = default Yes / No (a category)</a:t>
            </a:r>
          </a:p>
        </p:txBody>
      </p:sp>
      <p:sp>
        <p:nvSpPr>
          <p:cNvPr id="17" name="Rectangle 16"/>
          <p:cNvSpPr/>
          <p:nvPr/>
        </p:nvSpPr>
        <p:spPr>
          <a:xfrm>
            <a:off x="6400800" y="4114800"/>
            <a:ext cx="5029200" cy="100584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200">
                <a:solidFill>
                  <a:srgbClr val="222222"/>
                </a:solidFill>
                <a:latin typeface="Consolas"/>
              </a:rPr>
              <a:t>glm(default ~ income + age + score + debt,</a:t>
            </a:r>
          </a:p>
          <a:p>
            <a:pPr algn="l"/>
            <a:r>
              <a:rPr sz="1200">
                <a:solidFill>
                  <a:srgbClr val="222222"/>
                </a:solidFill>
                <a:latin typeface="Consolas"/>
              </a:rPr>
              <a:t>    data = bank, family = binomial)</a:t>
            </a:r>
          </a:p>
        </p:txBody>
      </p:sp>
      <p:sp>
        <p:nvSpPr>
          <p:cNvPr id="18" name="TextBox 17"/>
          <p:cNvSpPr txBox="1"/>
          <p:nvPr/>
        </p:nvSpPr>
        <p:spPr>
          <a:xfrm>
            <a:off x="548640" y="5760720"/>
            <a:ext cx="10972800" cy="548640"/>
          </a:xfrm>
          <a:prstGeom prst="rect">
            <a:avLst/>
          </a:prstGeom>
          <a:noFill/>
        </p:spPr>
        <p:txBody>
          <a:bodyPr wrap="square" anchor="t">
            <a:spAutoFit/>
          </a:bodyPr>
          <a:lstStyle/>
          <a:p>
            <a:pPr algn="ctr"/>
            <a:r>
              <a:rPr sz="1700" b="1">
                <a:solidFill>
                  <a:srgbClr val="2E5A88"/>
                </a:solidFill>
                <a:latin typeface="Calibri"/>
              </a:rPr>
              <a:t>Same predictors, same data. The TYPE OF OUTCOME decides the method.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Worked Example in R : Predicting Diabetes</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3 : Linear vs Logistic</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12</a:t>
            </a:r>
          </a:p>
        </p:txBody>
      </p:sp>
      <p:pic>
        <p:nvPicPr>
          <p:cNvPr id="7" name="Picture 6" descr="glucose_box.png"/>
          <p:cNvPicPr>
            <a:picLocks noChangeAspect="1"/>
          </p:cNvPicPr>
          <p:nvPr/>
        </p:nvPicPr>
        <p:blipFill>
          <a:blip r:embed="rId3"/>
          <a:stretch>
            <a:fillRect/>
          </a:stretch>
        </p:blipFill>
        <p:spPr>
          <a:xfrm>
            <a:off x="457200" y="1280160"/>
            <a:ext cx="4754880" cy="3566160"/>
          </a:xfrm>
          <a:prstGeom prst="rect">
            <a:avLst/>
          </a:prstGeom>
        </p:spPr>
      </p:pic>
      <p:sp>
        <p:nvSpPr>
          <p:cNvPr id="8" name="Rectangle 7"/>
          <p:cNvSpPr/>
          <p:nvPr/>
        </p:nvSpPr>
        <p:spPr>
          <a:xfrm>
            <a:off x="5394960" y="1280160"/>
            <a:ext cx="6400800" cy="2377440"/>
          </a:xfrm>
          <a:prstGeom prst="rect">
            <a:avLst/>
          </a:prstGeom>
          <a:solidFill>
            <a:srgbClr val="F2F5F9"/>
          </a:solidFill>
          <a:ln>
            <a:solidFill>
              <a:srgbClr val="C9D3D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200">
                <a:solidFill>
                  <a:srgbClr val="222222"/>
                </a:solidFill>
                <a:latin typeface="Consolas"/>
              </a:rPr>
              <a:t>model &lt;- glm(diabetes ~ glucose + bmi + age,</a:t>
            </a:r>
          </a:p>
          <a:p>
            <a:pPr algn="l"/>
            <a:r>
              <a:rPr sz="1200">
                <a:solidFill>
                  <a:srgbClr val="222222"/>
                </a:solidFill>
                <a:latin typeface="Consolas"/>
              </a:rPr>
              <a:t>             data = train, family = binomial)</a:t>
            </a:r>
          </a:p>
          <a:p>
            <a:pPr algn="l"/>
            <a:r>
              <a:rPr sz="1200">
                <a:solidFill>
                  <a:srgbClr val="222222"/>
                </a:solidFill>
                <a:latin typeface="Consolas"/>
              </a:rPr>
              <a:t>exp(coef(model))          # odds ratios</a:t>
            </a:r>
          </a:p>
          <a:p>
            <a:pPr algn="l"/>
            <a:r>
              <a:rPr sz="1200">
                <a:solidFill>
                  <a:srgbClr val="1F3A5F"/>
                </a:solidFill>
                <a:latin typeface="Consolas"/>
              </a:rPr>
              <a:t>#  glucose 1.03    bmi 1.09    age 1.03</a:t>
            </a:r>
          </a:p>
          <a:p>
            <a:pPr algn="l"/>
            <a:r>
              <a:rPr sz="1200">
                <a:solidFill>
                  <a:srgbClr val="222222"/>
                </a:solidFill>
                <a:latin typeface="Consolas"/>
              </a:rPr>
              <a:t/>
            </a:r>
          </a:p>
          <a:p>
            <a:pPr algn="l"/>
            <a:r>
              <a:rPr sz="1200">
                <a:solidFill>
                  <a:srgbClr val="222222"/>
                </a:solidFill>
                <a:latin typeface="Consolas"/>
              </a:rPr>
              <a:t>predict(model, type = "response",</a:t>
            </a:r>
          </a:p>
          <a:p>
            <a:pPr algn="l"/>
            <a:r>
              <a:rPr sz="1200">
                <a:solidFill>
                  <a:srgbClr val="222222"/>
                </a:solidFill>
                <a:latin typeface="Consolas"/>
              </a:rPr>
              <a:t>        newdata = data.frame(glucose = 150, bmi = 33, age = 45))</a:t>
            </a:r>
          </a:p>
          <a:p>
            <a:pPr algn="l"/>
            <a:r>
              <a:rPr sz="1200">
                <a:solidFill>
                  <a:srgbClr val="1F3A5F"/>
                </a:solidFill>
                <a:latin typeface="Consolas"/>
              </a:rPr>
              <a:t>#  0.63   -&gt;  63 % probability of diabetes</a:t>
            </a:r>
          </a:p>
        </p:txBody>
      </p:sp>
      <p:graphicFrame>
        <p:nvGraphicFramePr>
          <p:cNvPr id="9" name="Table 8"/>
          <p:cNvGraphicFramePr>
            <a:graphicFrameLocks noGrp="1"/>
          </p:cNvGraphicFramePr>
          <p:nvPr/>
        </p:nvGraphicFramePr>
        <p:xfrm>
          <a:off x="5394960" y="4114800"/>
          <a:ext cx="3108960" cy="1463040"/>
        </p:xfrm>
        <a:graphic>
          <a:graphicData uri="http://schemas.openxmlformats.org/drawingml/2006/table">
            <a:tbl>
              <a:tblPr firstRow="1" bandRow="1">
                <a:tableStyleId>{5C22544A-7EE6-4342-B048-85BDC9FD1C3A}</a:tableStyleId>
              </a:tblPr>
              <a:tblGrid>
                <a:gridCol w="1828800"/>
                <a:gridCol w="1280160"/>
              </a:tblGrid>
              <a:tr h="365760">
                <a:tc>
                  <a:txBody>
                    <a:bodyPr/>
                    <a:lstStyle/>
                    <a:p>
                      <a:r>
                        <a:rPr sz="1300" b="1">
                          <a:solidFill>
                            <a:srgbClr val="FFFFFF"/>
                          </a:solidFill>
                          <a:latin typeface="Calibri"/>
                        </a:rPr>
                        <a:t>Test-set result</a:t>
                      </a:r>
                    </a:p>
                  </a:txBody>
                  <a:tcPr marT="36576" marB="36576">
                    <a:solidFill>
                      <a:srgbClr val="2E5A88"/>
                    </a:solidFill>
                  </a:tcPr>
                </a:tc>
                <a:tc>
                  <a:txBody>
                    <a:bodyPr/>
                    <a:lstStyle/>
                    <a:p>
                      <a:r>
                        <a:rPr sz="1300" b="1">
                          <a:solidFill>
                            <a:srgbClr val="FFFFFF"/>
                          </a:solidFill>
                          <a:latin typeface="Calibri"/>
                        </a:rPr>
                        <a:t>Value</a:t>
                      </a:r>
                    </a:p>
                  </a:txBody>
                  <a:tcPr marT="36576" marB="36576">
                    <a:solidFill>
                      <a:srgbClr val="2E5A88"/>
                    </a:solidFill>
                  </a:tcPr>
                </a:tc>
              </a:tr>
              <a:tr h="365760">
                <a:tc>
                  <a:txBody>
                    <a:bodyPr/>
                    <a:lstStyle/>
                    <a:p>
                      <a:r>
                        <a:rPr sz="1300" b="0">
                          <a:solidFill>
                            <a:srgbClr val="222222"/>
                          </a:solidFill>
                          <a:latin typeface="Calibri"/>
                        </a:rPr>
                        <a:t>Accuracy</a:t>
                      </a:r>
                    </a:p>
                  </a:txBody>
                  <a:tcPr marT="36576" marB="36576">
                    <a:solidFill>
                      <a:srgbClr val="FFFFFF"/>
                    </a:solidFill>
                  </a:tcPr>
                </a:tc>
                <a:tc>
                  <a:txBody>
                    <a:bodyPr/>
                    <a:lstStyle/>
                    <a:p>
                      <a:r>
                        <a:rPr sz="1300" b="0">
                          <a:solidFill>
                            <a:srgbClr val="222222"/>
                          </a:solidFill>
                          <a:latin typeface="Calibri"/>
                        </a:rPr>
                        <a:t>75 %</a:t>
                      </a:r>
                    </a:p>
                  </a:txBody>
                  <a:tcPr marT="36576" marB="36576">
                    <a:solidFill>
                      <a:srgbClr val="FFFFFF"/>
                    </a:solidFill>
                  </a:tcPr>
                </a:tc>
              </a:tr>
              <a:tr h="365760">
                <a:tc>
                  <a:txBody>
                    <a:bodyPr/>
                    <a:lstStyle/>
                    <a:p>
                      <a:r>
                        <a:rPr sz="1300" b="0">
                          <a:solidFill>
                            <a:srgbClr val="222222"/>
                          </a:solidFill>
                          <a:latin typeface="Calibri"/>
                        </a:rPr>
                        <a:t>Sensitivity</a:t>
                      </a:r>
                    </a:p>
                  </a:txBody>
                  <a:tcPr marT="36576" marB="36576">
                    <a:solidFill>
                      <a:srgbClr val="F2F5F9"/>
                    </a:solidFill>
                  </a:tcPr>
                </a:tc>
                <a:tc>
                  <a:txBody>
                    <a:bodyPr/>
                    <a:lstStyle/>
                    <a:p>
                      <a:r>
                        <a:rPr sz="1300" b="0">
                          <a:solidFill>
                            <a:srgbClr val="222222"/>
                          </a:solidFill>
                          <a:latin typeface="Calibri"/>
                        </a:rPr>
                        <a:t>53 %</a:t>
                      </a:r>
                    </a:p>
                  </a:txBody>
                  <a:tcPr marT="36576" marB="36576">
                    <a:solidFill>
                      <a:srgbClr val="F2F5F9"/>
                    </a:solidFill>
                  </a:tcPr>
                </a:tc>
              </a:tr>
              <a:tr h="365760">
                <a:tc>
                  <a:txBody>
                    <a:bodyPr/>
                    <a:lstStyle/>
                    <a:p>
                      <a:r>
                        <a:rPr sz="1300" b="0">
                          <a:solidFill>
                            <a:srgbClr val="222222"/>
                          </a:solidFill>
                          <a:latin typeface="Calibri"/>
                        </a:rPr>
                        <a:t>Specificity</a:t>
                      </a:r>
                    </a:p>
                  </a:txBody>
                  <a:tcPr marT="36576" marB="36576">
                    <a:solidFill>
                      <a:srgbClr val="FFFFFF"/>
                    </a:solidFill>
                  </a:tcPr>
                </a:tc>
                <a:tc>
                  <a:txBody>
                    <a:bodyPr/>
                    <a:lstStyle/>
                    <a:p>
                      <a:r>
                        <a:rPr sz="1300" b="0">
                          <a:solidFill>
                            <a:srgbClr val="222222"/>
                          </a:solidFill>
                          <a:latin typeface="Calibri"/>
                        </a:rPr>
                        <a:t>87 %</a:t>
                      </a:r>
                    </a:p>
                  </a:txBody>
                  <a:tcPr marT="36576" marB="36576">
                    <a:solidFill>
                      <a:srgbClr val="FFFFFF"/>
                    </a:solidFill>
                  </a:tcPr>
                </a:tc>
              </a:tr>
            </a:tbl>
          </a:graphicData>
        </a:graphic>
      </p:graphicFrame>
      <p:sp>
        <p:nvSpPr>
          <p:cNvPr id="10" name="TextBox 9"/>
          <p:cNvSpPr txBox="1"/>
          <p:nvPr/>
        </p:nvSpPr>
        <p:spPr>
          <a:xfrm>
            <a:off x="8686800" y="4114800"/>
            <a:ext cx="3108960" cy="2011680"/>
          </a:xfrm>
          <a:prstGeom prst="rect">
            <a:avLst/>
          </a:prstGeom>
          <a:noFill/>
        </p:spPr>
        <p:txBody>
          <a:bodyPr wrap="square">
            <a:spAutoFit/>
          </a:bodyPr>
          <a:lstStyle/>
          <a:p>
            <a:pPr>
              <a:spcAft>
                <a:spcPts val="600"/>
              </a:spcAft>
            </a:pPr>
            <a:r>
              <a:rPr sz="1400" b="0">
                <a:solidFill>
                  <a:srgbClr val="222222"/>
                </a:solidFill>
                <a:latin typeface="Calibri"/>
              </a:rPr>
              <a:t>• Cut-off 0.5 → lower it to catch more cases</a:t>
            </a:r>
          </a:p>
          <a:p>
            <a:pPr>
              <a:spcAft>
                <a:spcPts val="600"/>
              </a:spcAft>
            </a:pPr>
            <a:r>
              <a:rPr sz="1400" b="0">
                <a:solidFill>
                  <a:srgbClr val="222222"/>
                </a:solidFill>
                <a:latin typeface="Calibri"/>
              </a:rPr>
              <a:t>• Predicting the glucose </a:t>
            </a:r>
            <a:r>
              <a:rPr sz="1400" b="1">
                <a:solidFill>
                  <a:srgbClr val="222222"/>
                </a:solidFill>
                <a:latin typeface="Calibri"/>
              </a:rPr>
              <a:t>level</a:t>
            </a:r>
            <a:r>
              <a:rPr sz="1400" b="0">
                <a:solidFill>
                  <a:srgbClr val="222222"/>
                </a:solidFill>
                <a:latin typeface="Calibri"/>
              </a:rPr>
              <a:t> instead would need </a:t>
            </a:r>
            <a:r>
              <a:rPr sz="1400" b="1">
                <a:solidFill>
                  <a:srgbClr val="222222"/>
                </a:solidFill>
                <a:latin typeface="Calibri"/>
              </a:rPr>
              <a:t>lm()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Summary : Which Method, When?</a:t>
            </a:r>
          </a:p>
        </p:txBody>
      </p:sp>
      <p:sp>
        <p:nvSpPr>
          <p:cNvPr id="4" name="TextBox 3"/>
          <p:cNvSpPr txBox="1"/>
          <p:nvPr/>
        </p:nvSpPr>
        <p:spPr>
          <a:xfrm>
            <a:off x="8503920" y="137160"/>
            <a:ext cx="3291840" cy="731520"/>
          </a:xfrm>
          <a:prstGeom prst="rect">
            <a:avLst/>
          </a:prstGeom>
          <a:noFill/>
        </p:spPr>
        <p:txBody>
          <a:bodyPr wrap="square" anchor="ctr">
            <a:spAutoFit/>
          </a:bodyPr>
          <a:lstStyle/>
          <a:p>
            <a:pPr algn="r"/>
            <a:r>
              <a:rPr sz="1300" b="0">
                <a:solidFill>
                  <a:srgbClr val="C9D3DF"/>
                </a:solidFill>
                <a:latin typeface="Calibri"/>
              </a:rPr>
              <a:t>Part 3 : Summary</a:t>
            </a:r>
          </a:p>
        </p:txBody>
      </p:sp>
      <p:sp>
        <p:nvSpPr>
          <p:cNvPr id="5" name="TextBox 4"/>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13</a:t>
            </a:r>
          </a:p>
        </p:txBody>
      </p:sp>
      <p:sp>
        <p:nvSpPr>
          <p:cNvPr id="7" name="TextBox 6"/>
          <p:cNvSpPr txBox="1"/>
          <p:nvPr/>
        </p:nvSpPr>
        <p:spPr>
          <a:xfrm>
            <a:off x="548640" y="1371600"/>
            <a:ext cx="5486400" cy="4754880"/>
          </a:xfrm>
          <a:prstGeom prst="rect">
            <a:avLst/>
          </a:prstGeom>
          <a:noFill/>
        </p:spPr>
        <p:txBody>
          <a:bodyPr wrap="square">
            <a:spAutoFit/>
          </a:bodyPr>
          <a:lstStyle/>
          <a:p>
            <a:pPr>
              <a:spcAft>
                <a:spcPts val="600"/>
              </a:spcAft>
            </a:pPr>
            <a:r>
              <a:rPr sz="1800" b="1">
                <a:solidFill>
                  <a:srgbClr val="222222"/>
                </a:solidFill>
                <a:latin typeface="Calibri"/>
              </a:rPr>
              <a:t>• Linear regression</a:t>
            </a:r>
          </a:p>
          <a:p>
            <a:pPr lvl="1">
              <a:spcAft>
                <a:spcPts val="600"/>
              </a:spcAft>
            </a:pPr>
            <a:r>
              <a:rPr sz="1600" b="0">
                <a:solidFill>
                  <a:srgbClr val="222222"/>
                </a:solidFill>
                <a:latin typeface="Calibri"/>
              </a:rPr>
              <a:t>– Numeric outcome, straight-line relationship</a:t>
            </a:r>
          </a:p>
          <a:p>
            <a:pPr lvl="1">
              <a:spcAft>
                <a:spcPts val="600"/>
              </a:spcAft>
            </a:pPr>
            <a:r>
              <a:rPr sz="1600" b="0">
                <a:solidFill>
                  <a:srgbClr val="222222"/>
                </a:solidFill>
                <a:latin typeface="Calibri"/>
              </a:rPr>
              <a:t>– Read the slopes directly, check R² and residual plots</a:t>
            </a:r>
          </a:p>
          <a:p>
            <a:pPr>
              <a:spcAft>
                <a:spcPts val="600"/>
              </a:spcAft>
            </a:pPr>
            <a:r>
              <a:rPr sz="1800" b="1">
                <a:solidFill>
                  <a:srgbClr val="222222"/>
                </a:solidFill>
                <a:latin typeface="Calibri"/>
              </a:rPr>
              <a:t>• Types</a:t>
            </a:r>
            <a:r>
              <a:rPr sz="1800" b="0">
                <a:solidFill>
                  <a:srgbClr val="222222"/>
                </a:solidFill>
                <a:latin typeface="Calibri"/>
              </a:rPr>
              <a:t>: simple, multiple, polynomial, regularised</a:t>
            </a:r>
          </a:p>
          <a:p>
            <a:pPr lvl="1">
              <a:spcAft>
                <a:spcPts val="600"/>
              </a:spcAft>
            </a:pPr>
            <a:r>
              <a:rPr sz="1600" b="0">
                <a:solidFill>
                  <a:srgbClr val="222222"/>
                </a:solidFill>
                <a:latin typeface="Calibri"/>
              </a:rPr>
              <a:t>– Pick the simplest that passes the checks and has the lowest AIC</a:t>
            </a:r>
          </a:p>
          <a:p>
            <a:pPr>
              <a:spcAft>
                <a:spcPts val="600"/>
              </a:spcAft>
            </a:pPr>
            <a:r>
              <a:rPr sz="1800" b="1">
                <a:solidFill>
                  <a:srgbClr val="222222"/>
                </a:solidFill>
                <a:latin typeface="Calibri"/>
              </a:rPr>
              <a:t>• Logistic regression</a:t>
            </a:r>
          </a:p>
          <a:p>
            <a:pPr lvl="1">
              <a:spcAft>
                <a:spcPts val="600"/>
              </a:spcAft>
            </a:pPr>
            <a:r>
              <a:rPr sz="1600" b="0">
                <a:solidFill>
                  <a:srgbClr val="222222"/>
                </a:solidFill>
                <a:latin typeface="Calibri"/>
              </a:rPr>
              <a:t>– Yes / No outcome, predicts a probability</a:t>
            </a:r>
          </a:p>
          <a:p>
            <a:pPr lvl="1">
              <a:spcAft>
                <a:spcPts val="600"/>
              </a:spcAft>
            </a:pPr>
            <a:r>
              <a:rPr sz="1600" b="0">
                <a:solidFill>
                  <a:srgbClr val="222222"/>
                </a:solidFill>
                <a:latin typeface="Calibri"/>
              </a:rPr>
              <a:t>– Read odds ratios, choose a cut-off, judge by a confusion matrix</a:t>
            </a:r>
          </a:p>
        </p:txBody>
      </p:sp>
      <p:sp>
        <p:nvSpPr>
          <p:cNvPr id="8" name="Rounded Rectangle 7"/>
          <p:cNvSpPr/>
          <p:nvPr/>
        </p:nvSpPr>
        <p:spPr>
          <a:xfrm>
            <a:off x="6400800" y="1645920"/>
            <a:ext cx="5303520" cy="402336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28800"/>
            <a:ext cx="4937760" cy="914400"/>
          </a:xfrm>
          <a:prstGeom prst="rect">
            <a:avLst/>
          </a:prstGeom>
          <a:noFill/>
        </p:spPr>
        <p:txBody>
          <a:bodyPr wrap="square" anchor="t">
            <a:spAutoFit/>
          </a:bodyPr>
          <a:lstStyle/>
          <a:p>
            <a:pPr algn="ctr"/>
            <a:r>
              <a:rPr sz="2200" b="1">
                <a:solidFill>
                  <a:srgbClr val="FFFFFF"/>
                </a:solidFill>
                <a:latin typeface="Calibri"/>
              </a:rPr>
              <a:t>Decision rule</a:t>
            </a:r>
          </a:p>
        </p:txBody>
      </p:sp>
      <p:sp>
        <p:nvSpPr>
          <p:cNvPr id="10" name="TextBox 9"/>
          <p:cNvSpPr txBox="1"/>
          <p:nvPr/>
        </p:nvSpPr>
        <p:spPr>
          <a:xfrm>
            <a:off x="6583680" y="2651760"/>
            <a:ext cx="4937760" cy="2926080"/>
          </a:xfrm>
          <a:prstGeom prst="rect">
            <a:avLst/>
          </a:prstGeom>
          <a:noFill/>
        </p:spPr>
        <p:txBody>
          <a:bodyPr wrap="square" anchor="t">
            <a:spAutoFit/>
          </a:bodyPr>
          <a:lstStyle/>
          <a:p>
            <a:pPr algn="ctr"/>
            <a:r>
              <a:rPr sz="1700" b="0">
                <a:solidFill>
                  <a:srgbClr val="FFFFFF"/>
                </a:solidFill>
                <a:latin typeface="Calibri"/>
              </a:rPr>
              <a:t>Look at your  y  first.</a:t>
            </a:r>
          </a:p>
          <a:p>
            <a:pPr algn="ctr"/>
            <a:r>
              <a:rPr sz="1700" b="0">
                <a:solidFill>
                  <a:srgbClr val="FFFFFF"/>
                </a:solidFill>
                <a:latin typeface="Calibri"/>
              </a:rPr>
              <a:t/>
            </a:r>
          </a:p>
          <a:p>
            <a:pPr algn="ctr"/>
            <a:r>
              <a:rPr sz="1700" b="0">
                <a:solidFill>
                  <a:srgbClr val="FFFFFF"/>
                </a:solidFill>
                <a:latin typeface="Calibri"/>
              </a:rPr>
              <a:t>Is it a number?      →  lm()</a:t>
            </a:r>
          </a:p>
          <a:p>
            <a:pPr algn="ctr"/>
            <a:r>
              <a:rPr sz="1700" b="0">
                <a:solidFill>
                  <a:srgbClr val="FFFFFF"/>
                </a:solidFill>
                <a:latin typeface="Calibri"/>
              </a:rPr>
              <a:t>Is it Yes / No?       →  glm(family = binomial)</a:t>
            </a:r>
          </a:p>
          <a:p>
            <a:pPr algn="ctr"/>
            <a:r>
              <a:rPr sz="1700" b="0">
                <a:solidFill>
                  <a:srgbClr val="FFFFFF"/>
                </a:solidFill>
                <a:latin typeface="Calibri"/>
              </a:rPr>
              <a:t/>
            </a:r>
          </a:p>
          <a:p>
            <a:pPr algn="ctr"/>
            <a:r>
              <a:rPr sz="1700" b="0">
                <a:solidFill>
                  <a:srgbClr val="FFFFFF"/>
                </a:solidFill>
                <a:latin typeface="Calibri"/>
              </a:rPr>
              <a:t>Then check the assumptions before you trust a single p-value.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058400" cy="731520"/>
          </a:xfrm>
          <a:prstGeom prst="rect">
            <a:avLst/>
          </a:prstGeom>
          <a:noFill/>
        </p:spPr>
        <p:txBody>
          <a:bodyPr wrap="square" anchor="ctr">
            <a:spAutoFit/>
          </a:bodyPr>
          <a:lstStyle/>
          <a:p>
            <a:pPr algn="l"/>
            <a:r>
              <a:rPr sz="2800" b="1">
                <a:solidFill>
                  <a:srgbClr val="FFFFFF"/>
                </a:solidFill>
                <a:latin typeface="Calibri"/>
              </a:rPr>
              <a:t>References</a:t>
            </a:r>
          </a:p>
        </p:txBody>
      </p:sp>
      <p:sp>
        <p:nvSpPr>
          <p:cNvPr id="4" name="TextBox 3"/>
          <p:cNvSpPr txBox="1"/>
          <p:nvPr/>
        </p:nvSpPr>
        <p:spPr>
          <a:xfrm>
            <a:off x="457200" y="6446520"/>
            <a:ext cx="7315200" cy="320040"/>
          </a:xfrm>
          <a:prstGeom prst="rect">
            <a:avLst/>
          </a:prstGeom>
          <a:noFill/>
        </p:spPr>
        <p:txBody>
          <a:bodyPr wrap="square" anchor="t">
            <a:spAutoFit/>
          </a:bodyPr>
          <a:lstStyle/>
          <a:p>
            <a:pPr algn="l"/>
            <a:r>
              <a:rPr sz="1000" b="0">
                <a:solidFill>
                  <a:srgbClr val="555555"/>
                </a:solidFill>
                <a:latin typeface="Calibri"/>
              </a:rPr>
              <a:t>Linear Regression Analysis  |  MSc Data Science  |  Formative Assignment</a:t>
            </a:r>
          </a:p>
        </p:txBody>
      </p:sp>
      <p:sp>
        <p:nvSpPr>
          <p:cNvPr id="5" name="TextBox 4"/>
          <p:cNvSpPr txBox="1"/>
          <p:nvPr/>
        </p:nvSpPr>
        <p:spPr>
          <a:xfrm>
            <a:off x="10972800" y="6446520"/>
            <a:ext cx="822960" cy="320040"/>
          </a:xfrm>
          <a:prstGeom prst="rect">
            <a:avLst/>
          </a:prstGeom>
          <a:noFill/>
        </p:spPr>
        <p:txBody>
          <a:bodyPr wrap="square" anchor="t">
            <a:spAutoFit/>
          </a:bodyPr>
          <a:lstStyle/>
          <a:p>
            <a:pPr algn="r"/>
            <a:r>
              <a:rPr sz="1000" b="0">
                <a:solidFill>
                  <a:srgbClr val="555555"/>
                </a:solidFill>
                <a:latin typeface="Calibri"/>
              </a:rPr>
              <a:t>14</a:t>
            </a:r>
          </a:p>
        </p:txBody>
      </p:sp>
      <p:sp>
        <p:nvSpPr>
          <p:cNvPr id="6" name="TextBox 5"/>
          <p:cNvSpPr txBox="1"/>
          <p:nvPr/>
        </p:nvSpPr>
        <p:spPr>
          <a:xfrm>
            <a:off x="548640" y="1280160"/>
            <a:ext cx="11155680" cy="5029200"/>
          </a:xfrm>
          <a:prstGeom prst="rect">
            <a:avLst/>
          </a:prstGeom>
          <a:noFill/>
        </p:spPr>
        <p:txBody>
          <a:bodyPr wrap="square">
            <a:spAutoFit/>
          </a:bodyPr>
          <a:lstStyle/>
          <a:p>
            <a:pPr>
              <a:spcAft>
                <a:spcPts val="600"/>
              </a:spcAft>
            </a:pPr>
            <a:r>
              <a:rPr sz="1500" b="0">
                <a:solidFill>
                  <a:srgbClr val="222222"/>
                </a:solidFill>
                <a:latin typeface="Calibri"/>
              </a:rPr>
              <a:t>• James, G., Witten, D., Hastie, T. and Tibshirani, R. (2021) An Introduction to Statistical Learning with Applications in R. 2nd edn. New York: Springer.</a:t>
            </a:r>
          </a:p>
          <a:p>
            <a:pPr>
              <a:spcAft>
                <a:spcPts val="600"/>
              </a:spcAft>
            </a:pPr>
            <a:r>
              <a:rPr sz="1500" b="0">
                <a:solidFill>
                  <a:srgbClr val="222222"/>
                </a:solidFill>
                <a:latin typeface="Calibri"/>
              </a:rPr>
              <a:t>• Field, A., Miles, J. and Field, Z. (2012) Discovering Statistics Using R. London: Sage.</a:t>
            </a:r>
          </a:p>
          <a:p>
            <a:pPr>
              <a:spcAft>
                <a:spcPts val="600"/>
              </a:spcAft>
            </a:pPr>
            <a:r>
              <a:rPr sz="1500" b="0">
                <a:solidFill>
                  <a:srgbClr val="222222"/>
                </a:solidFill>
                <a:latin typeface="Calibri"/>
              </a:rPr>
              <a:t>• Kutner, M. H., Nachtsheim, C. J., Neter, J. and Li, W. (2005) Applied Linear Statistical Models. 5th edn. New York: McGraw-Hill.</a:t>
            </a:r>
          </a:p>
          <a:p>
            <a:pPr>
              <a:spcAft>
                <a:spcPts val="600"/>
              </a:spcAft>
            </a:pPr>
            <a:r>
              <a:rPr sz="1500" b="0">
                <a:solidFill>
                  <a:srgbClr val="222222"/>
                </a:solidFill>
                <a:latin typeface="Calibri"/>
              </a:rPr>
              <a:t>• Hosmer, D. W., Lemeshow, S. and Sturdivant, R. X. (2013) Applied Logistic Regression. 3rd edn. Hoboken: Wiley.</a:t>
            </a:r>
          </a:p>
          <a:p>
            <a:pPr>
              <a:spcAft>
                <a:spcPts val="600"/>
              </a:spcAft>
            </a:pPr>
            <a:r>
              <a:rPr sz="1500" b="0">
                <a:solidFill>
                  <a:srgbClr val="222222"/>
                </a:solidFill>
                <a:latin typeface="Calibri"/>
              </a:rPr>
              <a:t>• R Core Team (2023) R: A Language and Environment for Statistical Computing. Vienna: R Foundation for Statistical Computing. Available at: https://www.R-project.org/</a:t>
            </a:r>
          </a:p>
          <a:p>
            <a:pPr>
              <a:spcAft>
                <a:spcPts val="600"/>
              </a:spcAft>
            </a:pPr>
            <a:r>
              <a:rPr sz="1500" b="0">
                <a:solidFill>
                  <a:srgbClr val="222222"/>
                </a:solidFill>
                <a:latin typeface="Calibri"/>
              </a:rPr>
              <a:t>• Henderson, H. V. and Velleman, P. F. (1981) ‘Building multiple regression models interactively’, Biometrics, 37, pp. 391–411. (source of the mtcars data set)</a:t>
            </a:r>
          </a:p>
          <a:p>
            <a:pPr>
              <a:spcAft>
                <a:spcPts val="600"/>
              </a:spcAft>
            </a:pPr>
            <a:r>
              <a:rPr sz="1500" b="0">
                <a:solidFill>
                  <a:srgbClr val="222222"/>
                </a:solidFill>
                <a:latin typeface="Calibri"/>
              </a:rPr>
              <a:t>• Smith, J. W. et al. (1988) ‘Using the ADAP learning algorithm to forecast the onset of diabetes mellitus’, Proceedings of the Symposium on Computer Applications and Medical Care, pp. 261–265. (source of the Pima Indians Diabetes data set)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1371600"/>
          </a:xfrm>
          <a:prstGeom prst="rect">
            <a:avLst/>
          </a:prstGeom>
          <a:noFill/>
        </p:spPr>
        <p:txBody>
          <a:bodyPr wrap="square" anchor="t">
            <a:spAutoFit/>
          </a:bodyPr>
          <a:lstStyle/>
          <a:p>
            <a:pPr algn="ctr"/>
            <a:r>
              <a:rPr sz="5400" b="1">
                <a:solidFill>
                  <a:srgbClr val="FFFFFF"/>
                </a:solidFill>
                <a:latin typeface="Calibri"/>
              </a:rPr>
              <a:t>Thank you</a:t>
            </a:r>
          </a:p>
        </p:txBody>
      </p:sp>
      <p:sp>
        <p:nvSpPr>
          <p:cNvPr id="4" name="TextBox 3"/>
          <p:cNvSpPr txBox="1"/>
          <p:nvPr/>
        </p:nvSpPr>
        <p:spPr>
          <a:xfrm>
            <a:off x="731520" y="3566160"/>
            <a:ext cx="10698480" cy="914400"/>
          </a:xfrm>
          <a:prstGeom prst="rect">
            <a:avLst/>
          </a:prstGeom>
          <a:noFill/>
        </p:spPr>
        <p:txBody>
          <a:bodyPr wrap="square" anchor="t">
            <a:spAutoFit/>
          </a:bodyPr>
          <a:lstStyle/>
          <a:p>
            <a:pPr algn="ctr"/>
            <a:r>
              <a:rPr sz="2800" b="0">
                <a:solidFill>
                  <a:srgbClr val="C9D3DF"/>
                </a:solidFill>
                <a:latin typeface="Calibri"/>
              </a:rP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